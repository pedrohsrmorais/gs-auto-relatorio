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314" r:id="rId2"/>
    <p:sldId id="313" r:id="rId3"/>
    <p:sldId id="316" r:id="rId4"/>
    <p:sldId id="268" r:id="rId5"/>
    <p:sldId id="312" r:id="rId6"/>
    <p:sldId id="318" r:id="rId7"/>
    <p:sldId id="322" r:id="rId8"/>
    <p:sldId id="327" r:id="rId9"/>
    <p:sldId id="323" r:id="rId10"/>
    <p:sldId id="324" r:id="rId11"/>
    <p:sldId id="325" r:id="rId12"/>
    <p:sldId id="326" r:id="rId13"/>
    <p:sldId id="317" r:id="rId14"/>
    <p:sldId id="315" r:id="rId15"/>
    <p:sldId id="320" r:id="rId16"/>
    <p:sldId id="321" r:id="rId17"/>
    <p:sldId id="319" r:id="rId18"/>
    <p:sldId id="304" r:id="rId19"/>
    <p:sldId id="274" r:id="rId20"/>
    <p:sldId id="275" r:id="rId21"/>
    <p:sldId id="329" r:id="rId22"/>
    <p:sldId id="328" r:id="rId23"/>
    <p:sldId id="278" r:id="rId24"/>
    <p:sldId id="280" r:id="rId25"/>
  </p:sldIdLst>
  <p:sldSz cx="18288000" cy="10287000"/>
  <p:notesSz cx="6858000" cy="9144000"/>
  <p:embeddedFontLst>
    <p:embeddedFont>
      <p:font typeface="Codec Pro" panose="020B0604020202020204" charset="0"/>
      <p:regular r:id="rId27"/>
    </p:embeddedFont>
    <p:embeddedFont>
      <p:font typeface="Codec Pro Bold" panose="020B0604020202020204" charset="0"/>
      <p:regular r:id="rId28"/>
    </p:embeddedFont>
    <p:embeddedFont>
      <p:font typeface="Codec Pro Ultra-Bold" panose="020B0604020202020204" charset="0"/>
      <p:regular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Bold" panose="00000800000000000000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FE8989E-2066-49FF-B2ED-95C3021CCA94}">
          <p14:sldIdLst>
            <p14:sldId id="314"/>
            <p14:sldId id="313"/>
            <p14:sldId id="316"/>
            <p14:sldId id="268"/>
            <p14:sldId id="312"/>
            <p14:sldId id="318"/>
            <p14:sldId id="322"/>
            <p14:sldId id="327"/>
            <p14:sldId id="323"/>
            <p14:sldId id="324"/>
            <p14:sldId id="325"/>
            <p14:sldId id="326"/>
            <p14:sldId id="317"/>
            <p14:sldId id="315"/>
          </p14:sldIdLst>
        </p14:section>
        <p14:section name="Seção sem Título" id="{98769772-A0C1-4760-889B-69B44696FD51}">
          <p14:sldIdLst>
            <p14:sldId id="320"/>
            <p14:sldId id="321"/>
            <p14:sldId id="319"/>
            <p14:sldId id="304"/>
            <p14:sldId id="274"/>
            <p14:sldId id="275"/>
            <p14:sldId id="329"/>
            <p14:sldId id="328"/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 Claudia da Cunha Lopes" initials="ACdCL" lastIdx="6" clrIdx="0">
    <p:extLst>
      <p:ext uri="{19B8F6BF-5375-455C-9EA6-DF929625EA0E}">
        <p15:presenceInfo xmlns:p15="http://schemas.microsoft.com/office/powerpoint/2012/main" userId="S-1-5-21-1147957906-1286806110-2768464412-12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3273" autoAdjust="0"/>
  </p:normalViewPr>
  <p:slideViewPr>
    <p:cSldViewPr>
      <p:cViewPr varScale="1">
        <p:scale>
          <a:sx n="44" d="100"/>
          <a:sy n="44" d="100"/>
        </p:scale>
        <p:origin x="67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13T18:16:32.933" idx="4">
    <p:pos x="11189" y="1246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22T16:22:12.111" idx="6">
    <p:pos x="10" y="10"/>
    <p:text>Colocar SLIDE em Hiperlink na compensação - Para falarmos apenas caso o cliente não queira a compensação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14378-3B46-4CCD-BCB7-ECF80477A605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DF3A2-BC3B-4092-B23D-06EEC7C9F9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18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DF3A2-BC3B-4092-B23D-06EEC7C9F96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58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DF3A2-BC3B-4092-B23D-06EEC7C9F96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343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svg"/><Relationship Id="rId7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svg"/><Relationship Id="rId7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C63B761-86F1-4773-3E5C-BC75BB9C4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299"/>
            <a:ext cx="18288000" cy="10403598"/>
          </a:xfrm>
          <a:prstGeom prst="rect">
            <a:avLst/>
          </a:prstGeom>
        </p:spPr>
      </p:pic>
      <p:sp>
        <p:nvSpPr>
          <p:cNvPr id="4" name="NomeEmpresa">
            <a:extLst>
              <a:ext uri="{FF2B5EF4-FFF2-40B4-BE49-F238E27FC236}">
                <a16:creationId xmlns:a16="http://schemas.microsoft.com/office/drawing/2014/main" id="{AD87DD2A-F13F-7BFC-9C18-97AA7AE47F53}"/>
              </a:ext>
            </a:extLst>
          </p:cNvPr>
          <p:cNvSpPr txBox="1"/>
          <p:nvPr/>
        </p:nvSpPr>
        <p:spPr>
          <a:xfrm>
            <a:off x="4038600" y="6743700"/>
            <a:ext cx="1089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>
                <a:solidFill>
                  <a:schemeClr val="bg1"/>
                </a:solidFill>
                <a:latin typeface="Codec Pro" panose="020B0604020202020204" charset="0"/>
              </a:rPr>
              <a:t>0</a:t>
            </a:r>
            <a:endParaRPr lang="pt-BR" sz="3200" dirty="0">
              <a:solidFill>
                <a:schemeClr val="bg1"/>
              </a:solidFill>
              <a:latin typeface="Codec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76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95FE3F4-973D-033D-A373-F688AB9FE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4682"/>
            <a:ext cx="18288000" cy="1037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5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463934" y="2437534"/>
            <a:ext cx="7849466" cy="7849466"/>
          </a:xfrm>
          <a:custGeom>
            <a:avLst/>
            <a:gdLst/>
            <a:ahLst/>
            <a:cxnLst/>
            <a:rect l="l" t="t" r="r" b="b"/>
            <a:pathLst>
              <a:path w="7849466" h="7849466">
                <a:moveTo>
                  <a:pt x="0" y="0"/>
                </a:moveTo>
                <a:lnTo>
                  <a:pt x="7849466" y="0"/>
                </a:lnTo>
                <a:lnTo>
                  <a:pt x="7849466" y="7849466"/>
                </a:lnTo>
                <a:lnTo>
                  <a:pt x="0" y="7849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71600" y="3390900"/>
            <a:ext cx="8711334" cy="411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Quantificação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b="1" dirty="0" err="1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Créditos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Tributários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4273" y="1051961"/>
            <a:ext cx="742722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32"/>
              </a:lnSpc>
            </a:pPr>
            <a:r>
              <a:rPr lang="en-US" sz="5824" b="1" spc="-104" dirty="0">
                <a:solidFill>
                  <a:schemeClr val="bg1"/>
                </a:solidFill>
                <a:latin typeface="Codec Pro" panose="020B0604020202020204" charset="0"/>
                <a:ea typeface="Poppins Ultra-Bold"/>
                <a:cs typeface="Poppins Ultra-Bold"/>
                <a:sym typeface="Poppins Ultra-Bold"/>
              </a:rPr>
              <a:t>ESCOPO DO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31602" y="1856575"/>
            <a:ext cx="458244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2"/>
              </a:lnSpc>
            </a:pPr>
            <a:r>
              <a:rPr lang="en-US" sz="5824" b="1" spc="-104" dirty="0">
                <a:solidFill>
                  <a:schemeClr val="bg1"/>
                </a:solidFill>
                <a:latin typeface="Codec Pro" panose="020B0604020202020204" charset="0"/>
                <a:ea typeface="Poppins Ultra-Bold"/>
                <a:cs typeface="Poppins Ultra-Bold"/>
                <a:sym typeface="Poppins Ultra-Bold"/>
              </a:rPr>
              <a:t>TRABALHO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2457" y="4887678"/>
            <a:ext cx="95981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Tributos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analisados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3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PIS/COFINS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3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 IRPJ/CSLL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3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INSS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0182" y="6383815"/>
            <a:ext cx="978528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Análise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dos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últimos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60 </a:t>
            </a:r>
            <a:r>
              <a:rPr lang="en-US" sz="3000" b="1" dirty="0" err="1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meses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da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080692" y="333320"/>
            <a:ext cx="1624617" cy="1624617"/>
          </a:xfrm>
          <a:custGeom>
            <a:avLst/>
            <a:gdLst/>
            <a:ahLst/>
            <a:cxnLst/>
            <a:rect l="l" t="t" r="r" b="b"/>
            <a:pathLst>
              <a:path w="1624617" h="1624617">
                <a:moveTo>
                  <a:pt x="0" y="0"/>
                </a:moveTo>
                <a:lnTo>
                  <a:pt x="1624617" y="0"/>
                </a:lnTo>
                <a:lnTo>
                  <a:pt x="1624617" y="1624617"/>
                </a:lnTo>
                <a:lnTo>
                  <a:pt x="0" y="1624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8078229F-D25B-4BCF-DEB4-C295D1909117}"/>
              </a:ext>
            </a:extLst>
          </p:cNvPr>
          <p:cNvSpPr txBox="1"/>
          <p:nvPr/>
        </p:nvSpPr>
        <p:spPr>
          <a:xfrm>
            <a:off x="1430182" y="8401850"/>
            <a:ext cx="9785284" cy="415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Créditos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resgate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lang="en-US" sz="30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administrativa</a:t>
            </a:r>
            <a:r>
              <a:rPr lang="en-US" sz="3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507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663332" y="0"/>
            <a:ext cx="10489300" cy="10287000"/>
            <a:chOff x="0" y="0"/>
            <a:chExt cx="2762614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62614" cy="2709333"/>
            </a:xfrm>
            <a:custGeom>
              <a:avLst/>
              <a:gdLst/>
              <a:ahLst/>
              <a:cxnLst/>
              <a:rect l="l" t="t" r="r" b="b"/>
              <a:pathLst>
                <a:path w="2762614" h="2709333">
                  <a:moveTo>
                    <a:pt x="49451" y="0"/>
                  </a:moveTo>
                  <a:lnTo>
                    <a:pt x="2713163" y="0"/>
                  </a:lnTo>
                  <a:cubicBezTo>
                    <a:pt x="2740474" y="0"/>
                    <a:pt x="2762614" y="22140"/>
                    <a:pt x="2762614" y="49451"/>
                  </a:cubicBezTo>
                  <a:lnTo>
                    <a:pt x="2762614" y="2659882"/>
                  </a:lnTo>
                  <a:cubicBezTo>
                    <a:pt x="2762614" y="2672997"/>
                    <a:pt x="2757404" y="2685575"/>
                    <a:pt x="2748130" y="2694849"/>
                  </a:cubicBezTo>
                  <a:cubicBezTo>
                    <a:pt x="2738856" y="2704123"/>
                    <a:pt x="2726278" y="2709333"/>
                    <a:pt x="2713163" y="2709333"/>
                  </a:cubicBezTo>
                  <a:lnTo>
                    <a:pt x="49451" y="2709333"/>
                  </a:lnTo>
                  <a:cubicBezTo>
                    <a:pt x="36336" y="2709333"/>
                    <a:pt x="23758" y="2704123"/>
                    <a:pt x="14484" y="2694849"/>
                  </a:cubicBezTo>
                  <a:cubicBezTo>
                    <a:pt x="5210" y="2685575"/>
                    <a:pt x="0" y="2672997"/>
                    <a:pt x="0" y="2659882"/>
                  </a:cubicBezTo>
                  <a:lnTo>
                    <a:pt x="0" y="49451"/>
                  </a:lnTo>
                  <a:cubicBezTo>
                    <a:pt x="0" y="36336"/>
                    <a:pt x="5210" y="23758"/>
                    <a:pt x="14484" y="14484"/>
                  </a:cubicBezTo>
                  <a:cubicBezTo>
                    <a:pt x="23758" y="5210"/>
                    <a:pt x="36336" y="0"/>
                    <a:pt x="49451" y="0"/>
                  </a:cubicBezTo>
                  <a:close/>
                </a:path>
              </a:pathLst>
            </a:custGeom>
            <a:solidFill>
              <a:srgbClr val="89714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76261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9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4478" y="4377951"/>
            <a:ext cx="6877922" cy="1232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531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Análise</a:t>
            </a:r>
            <a:r>
              <a:rPr lang="en-US" sz="531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</a:t>
            </a:r>
            <a:endParaRPr lang="en-US" sz="5319" b="1" dirty="0">
              <a:solidFill>
                <a:srgbClr val="DEBF8B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algn="l">
              <a:lnSpc>
                <a:spcPts val="4681"/>
              </a:lnSpc>
            </a:pPr>
            <a:r>
              <a:rPr lang="en-US" sz="5319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CONFORMIDADE</a:t>
            </a:r>
          </a:p>
        </p:txBody>
      </p:sp>
      <p:sp>
        <p:nvSpPr>
          <p:cNvPr id="8" name="Freeform 8"/>
          <p:cNvSpPr/>
          <p:nvPr/>
        </p:nvSpPr>
        <p:spPr>
          <a:xfrm>
            <a:off x="10905720" y="-6464614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448800" y="3941591"/>
            <a:ext cx="7420673" cy="350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75"/>
              </a:lnSpc>
            </a:pP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Esta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análise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visa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identificar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de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redução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do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custo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financeiro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empresa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através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conversão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créditos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tributários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em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operações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estratégicas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inteligentes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6444327"/>
            <a:ext cx="4700587" cy="5129609"/>
          </a:xfrm>
          <a:custGeom>
            <a:avLst/>
            <a:gdLst/>
            <a:ahLst/>
            <a:cxnLst/>
            <a:rect l="l" t="t" r="r" b="b"/>
            <a:pathLst>
              <a:path w="4700587" h="5129609">
                <a:moveTo>
                  <a:pt x="0" y="0"/>
                </a:moveTo>
                <a:lnTo>
                  <a:pt x="4700588" y="0"/>
                </a:lnTo>
                <a:lnTo>
                  <a:pt x="4700588" y="5129609"/>
                </a:lnTo>
                <a:lnTo>
                  <a:pt x="0" y="5129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22864-AE7F-C143-089C-C8F766C32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6CC750-E889-C7BD-2EFA-F06EEBAF1F8A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DCBEEB-4578-FBDA-5DB3-387B5D0E2E9A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38C70E-446A-3F5F-3936-FFFC07DAF87B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PIS/COFINS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B77FD39-B9FE-4A79-8F32-EEF28E3B2203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435A1694-4A53-557A-DCFF-C178BB8F0DAE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09930A42-C57D-F347-F2FF-81DCDDE0E836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1788AF5E-AA72-C9AD-112B-0EC4572BD2C0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66272DB1-1F65-6154-CC5A-664CB5041127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35ED5D13-534B-D06B-8FE5-D5D6AE4CF022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7E23A0C1-EC0E-6AD8-B303-9BB70A6F3689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CD2C5619-CDB1-7F1D-5402-1AFA19293F3B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8895D4F3-2015-820D-12CC-2012BB948269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0FC00FBD-22EC-FA40-583E-B48C26457E8E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39FD4FD7-2BFF-F343-0219-93925C7E2C5B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233C08EE-D626-8237-9233-C42B3D7B3760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560D789F-2C61-3C4E-7445-1FAE0D021E17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511B6CB2-072B-3556-F554-42462302C53A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6109802A-0154-47ED-9EC4-F4538A6BF5B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CAC949E7-C49B-D009-00E6-69673A10E2CA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08109100-8DF7-D0F8-EA0E-E3FDDFDBBB11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CA98D5EC-733C-2B79-0459-E2605BB1A044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022D29E2-70F9-03FE-F8C7-1B6C56943779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98CCED69-406A-2A87-4A1A-0EBD7B7A2D7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BF1BA120-5562-E984-22C6-6441E076F1F8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86BF8138-26B9-43F3-FE46-9F1B7FD9BB26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D3E39067-EA99-A050-AA8E-392FF3CBDCE3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2FAE985F-E79F-A436-F5AD-ABEA5A32B50B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7C239C7A-1910-4590-6B41-DA397AB0BA5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D142D8F0-6F4B-2E29-1256-1A98E36CF7A1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B68113DE-E1B5-6438-3D62-880CBBC11277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24E69159-BB64-0460-1FB7-FA39B3FEFAD5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7C1D0DF9-5EC6-3122-885F-31EDADE3C3B3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974C822B-38DF-B39F-86A9-43A8395FAFC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1CC2F34A-1250-1A28-ADB8-2D492A1CD34C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917CBA3C-A96E-1393-6DB8-25E5AB952A47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561CD83B-90D0-9C53-343B-DB8652705648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DD576E1B-0179-CFF5-70EF-0934A0C3FF66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1E0B2475-EF12-DF4C-FB0D-F317FED3520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5C2BB9D7-7E2A-55F7-4E2B-888EE4C0B4C0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6B71AF7F-8EC7-899E-8919-275A72EC69AA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E9DD1B04-E004-8F6C-5CA4-C23F87F6D3F6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65110C4F-B33C-C1A1-07D3-44DBDC32759F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541178EE-BDE5-71F4-51F3-C28FE3A8673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C49F7D9A-D766-C7EE-4934-EEEA3025927B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0447E4EB-EE71-843C-C965-D00139355006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857D042D-FE90-7755-F682-534D27120B60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DD4640F9-8311-9FF0-9937-B453BD83DB41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E052A205-CE8C-4BDD-E8CB-0BA10A5A8C4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AF3CC9FE-AAED-88F5-6C8D-16F315313F52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AC19B8CB-45B4-A448-8CF1-BE807ABFA45D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7FDA93E0-AB86-B2FC-DF21-B213A41912DC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4CDC5EC6-A5F2-E7A7-982E-208627D1B353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A789FF92-A8AF-A160-2182-57784C020783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7F2AC396-D1DD-C481-39A0-56E7DC2C8C0A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998C27C8-5DF5-7316-B51F-C79A6524D01E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C0D77690-EA16-0816-034D-C1AFE8D19F0F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7E5E08D1-C450-8223-D11E-A90ECD487633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79547B63-522F-2347-1AF3-1428BEC41DDA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C3FCFB54-3760-CEA0-992E-037FE8C794E2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E8763AF3-977E-6DC6-912D-A26B4D3ECA34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4F5C86C9-1533-969A-EE0A-888667568022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4BE4567E-7BCD-1825-8697-7BEB8A42580B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5A5A007B-6A42-54FD-657E-B00772ACE712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69F357D8-105B-EE96-6070-33B486FCB7E0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5C11B0B4-9DF7-7AE5-338D-2B8867681D5F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C54AC5B3-C94D-C683-F9FC-D68D310A06D5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85C397E6-3396-097F-5264-E4E9DF71E42D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18C0C5CA-3CA4-07C8-172A-5CF1ACBF281C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ACAC9B48-B88C-2522-0BFE-2FB6ABDA80EA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DBC6EEA1-1FFA-AD31-1508-70857F9470D6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FC82BC04-355F-1347-4D7A-6ECC57A9A13C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813476F8-1A68-7A51-6092-CCF8C67AF830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75C94A76-23A5-D812-89B2-3FE3DAC6C4E5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B5814D33-162C-AEEB-465C-2C1B8BE56FDF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040EBFAB-2803-E7D1-8FB3-509675C4B80F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FBEB0C64-5C52-D116-BD26-5883B2492072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3D13E80B-0398-B510-EA22-45A231F50746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7F1ADE06-B549-30DF-03AA-E7A67DB70C8C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0658F902-E1BF-249D-C5FB-997F1126808C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089A72D5-A03C-6A37-2018-9B7628A39CA4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DDE14BF1-D08C-B38D-0446-D1580AAFAC3E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6448E276-DEE2-3D93-1B7E-30F462565D55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7CED145D-A9C2-13C6-BA68-617B5417298E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EA6886C8-F359-9096-269C-93C253A4A966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TabelaPIS">
            <a:extLst>
              <a:ext uri="{FF2B5EF4-FFF2-40B4-BE49-F238E27FC236}">
                <a16:creationId xmlns:a16="http://schemas.microsoft.com/office/drawing/2014/main" id="{2EB763FC-F681-4C97-BD17-BAB82202D0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485" y="2502810"/>
            <a:ext cx="16410888" cy="632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77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53468-0794-36FA-AB3E-6EF133B84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C5F7EC-9AC7-FA5E-9138-AF8579022B8C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4CA2AC5-9A69-6790-9EA1-55812D62A220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62B7C9-002A-B19E-37BC-937E3A76F00E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INSS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D07AEC05-6415-4784-19D2-5ABE0FE11E87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23C782AD-0710-AAEC-9039-037C6EDEB197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E723B172-C0D4-75B9-05FA-64C71EDB6191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3F08B581-CFDD-B4FF-1C60-38A4C8C0BB1B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05C1AAA6-2D8C-0A0C-8134-1B536C12939E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861492FF-5AFB-619E-083D-5B4E853974FC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B24FC4A0-C496-9719-735D-22CA1BBCDAE8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E8C4248D-A479-FA01-578E-C5328878C1DB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B784CD5E-3BAE-1412-4826-43F5ECC0F199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247B20E1-8C3A-E9AE-8EB9-9861CFD1C88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D12CAE78-58F6-4AB4-F3A6-78B4CC763C4A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DFC432AE-9CB4-473B-764F-BF5C0EFDB4D4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8496B420-E034-B116-9956-91CA65FE2099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E45A17A2-7187-08B4-ACF2-109549573A4A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E79CC2DF-D35C-344E-43D2-E6CD17A92EF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6F98A276-2F65-01DB-6098-19279A591D0B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DDC096C4-43EA-B1F6-D2D5-33ECEFF61768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C0FF97ED-4316-9C7B-072C-26AA5C5D5F60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2384A425-F2E1-BBD0-BBF7-CD8D0FAD871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CE39ED70-BB73-06D4-F5AD-164E4079381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10C55139-68CF-6C3A-949D-B9C20639332F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768D80F4-2A23-C8E0-8EFA-4A59400D268A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1A5EEC31-724C-A7B6-7017-6C2153AC58D5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B5C06C76-C9CF-5259-8C10-371482DEEC0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33757E99-6455-6645-68F3-A7356DEC70C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3D33FE41-A50F-69AA-A97D-CF4B6A4C366C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FA77F93E-B2D8-A371-BC2B-93F900BAAE5D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7F9F9829-D8E7-ECA3-F2D0-94DFA808E730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029B6CC5-6F0F-F0FB-3AA3-4B94EAD93823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03FC43B9-BDC2-583F-D63C-9F2DFBF96F3E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17B1D830-D5E6-378F-A594-4D15D4E2A1E7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E7111E8E-8DF1-C60F-BB2A-657BA589A868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7539FE61-C522-D6A4-1B82-C35E6B595E4C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08D26A08-13ED-3DAB-3651-1FA1E477F6DB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EF107BE8-2BAF-E68A-3058-14170753765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4CC2474F-2DF9-BD87-6307-976B56CCD3C2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CAF88C37-90BB-E3A0-92E9-4E80E0478893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57A9433A-9E6C-19FE-EE95-DC66F1615037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07E1476E-50C3-A807-8F86-09C1761E4216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DC1D3C89-477B-DBF4-78F9-1E2BF4892C99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92D57ED8-AB61-F510-F6C5-D7664BD5A82A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FAC106C7-3E20-6C4A-D702-F3DF26972C06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0F741A1D-1795-7367-14A3-3445EB7E9FD4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D2BCEAB5-EC2C-6ECC-F0EE-F5DF844A3AB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8C073284-20AE-5A77-0AD6-7AA8FC3B992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CABC5D39-2C33-FAD8-F928-679353A860FF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9C6F8FF0-4057-04A3-ECD3-87813198973A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FDE78CD6-DFBB-DAC1-3BF3-EF6D69D9B0E3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A45894DE-8B53-7B85-3D6A-920E2A15CDFA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83ABB74C-2726-4F38-3986-FF004D30ECD2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B0491FA0-57B0-2062-10A0-579FDB994BE8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4C9BFEFC-360E-2610-4550-7DA1B8DD50E8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1994C690-2663-3AF8-CA9C-137061D85F23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E52AAD63-0299-9B8A-CA3C-C59D4C626ADA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505C916F-F472-F583-1FFA-9117FA340A96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A2CC4CC7-D82B-D214-8FF7-3D4A38F83D0C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E4E60EB1-A73E-DE1E-A3E0-52F44AE8C3A4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C6E05DEB-EE73-F4D2-21E1-12E93B1FA38B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02A60B83-DD44-D287-65A9-01168246E101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D5C0FADB-08EB-0B8A-6B96-7D6E4B01FCE4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0C557469-4D39-15DA-3B5D-D1CA1DCBC7F5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45919424-005A-C4F2-63D7-4F4D87567D3F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70522894-0617-DE8A-4451-2EA4E501F24C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2A4B92C9-1A19-9ABA-0FE8-46804DAD9961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DD4EC6B0-D084-F90A-44A4-3C558A620EC4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539793D5-0FDD-05C4-4591-9356362DFD92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EA4CE2DA-E69E-4C03-2B26-D050CB646A09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7B676D07-FD61-4B84-AEFE-A3BE69FB53FB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E26C5EC5-3C16-A1D6-ED96-0D53408D6E20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687A7B2D-579A-6F0C-83EC-EC16D1F323EC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D1D8B060-74BA-3DDC-FE7D-A8905C74F4D3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6726BEF1-2E6F-8242-0E09-7CF785EDBBE7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0D9257A4-0A00-B05A-FC1B-6FEEA0D94B6D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77F089A2-9692-7945-4B61-D98F82B919E8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A5CD857C-5C2D-A54F-7775-A1DDEDE7BD89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A5D5BEAA-9CF7-356F-4BA2-2E209B84355E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F440F8C7-72EC-307E-92A3-D9A5C8246A78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45737BAE-E085-8A94-9A5F-CF351EBD6CE0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125E56D3-DBB6-8933-F94F-08968F246525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6CF5CDCC-12C9-50DC-452F-A24637E19B15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FA82468F-1108-28DD-5ED0-80FEC738E351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TabelaINSS">
            <a:extLst>
              <a:ext uri="{FF2B5EF4-FFF2-40B4-BE49-F238E27FC236}">
                <a16:creationId xmlns:a16="http://schemas.microsoft.com/office/drawing/2014/main" id="{247D77CD-1450-28CC-4ECF-E0380AD847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485" y="2502811"/>
            <a:ext cx="16410888" cy="44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23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312B3-A098-7C59-6DBF-6E28B92B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20F444-D0A8-623F-9496-7D193BED1968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5ECFE8B-C8D4-2612-FF29-8C2E5E044258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C63D2F-E82E-C122-4418-77322C2A5717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IRPJ/CSLL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2A60B4CF-9073-D40C-EE70-9BB79F28EE69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32A4BD0C-78FC-AAB4-33DD-51E9416578F9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9A19BDBF-5A3C-1A63-3C3A-DC496146800F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0F6CB4D5-8423-D9AB-6B83-9F409A6B1C94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1E8BBB30-8ADF-EAA0-EAE4-9472E6007DEB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C03853FB-3984-381A-1E25-AF77D6AA19ED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98E19B78-A0EF-E8E6-27C1-6E3164A4D412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4BC9348F-4732-4856-9E22-70442A191664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5D7E837F-D431-BA7E-EDE1-FAC020C819D7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370D934A-6FB9-5241-A4D3-7A12D9653B8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142129E2-D193-3710-4FBA-7B59FB1A92B2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63E0D9F6-93A5-DBB8-075D-76A971097D82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DEB7B8A2-0C30-D1B2-5769-1DF8195E54AC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D63D4D64-1CAC-F9E7-BDD1-5B8D7656A1F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E65634B7-7F46-DD2C-965D-3CCD2CE59AE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F9591EB4-F63E-01C1-1F22-E2F1A6CA2DF9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2FBB29D0-6140-DD3D-043E-B4ECEF3B67C2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77738EF5-FFCB-BF7F-85EB-6AF1C946CF7E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36A79640-8FA7-9C30-509F-74F44CBD4214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55A59A71-34DD-F465-ECF6-F3A4BB9688D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E2F23477-B33D-507B-073A-6FC148D9C919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E7CF282E-D4EC-1C89-5487-7BAD9BADB626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18DAFDB4-06FE-5D10-D804-0B00A910AF1B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294118B2-4131-741D-87D4-ADF88A25045F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531A1CA1-EE06-AFF1-E5BF-CDED565F6F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28F7F717-F20F-2A60-F286-E1080AE6663C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6CE852F5-B64B-4F18-D1D5-5B2216751455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A40AE196-D4E9-C0D7-4A5B-092E88AAC599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06B85442-10ED-D12D-5496-9ED1CD50F13B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1FEEB497-2CD2-1ADC-5A45-7F5D43FD10A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91AAB2E8-63A6-D468-2940-C1A941B5CD34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CBEED5E8-E58E-6E45-6DEF-6E604BE1012C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AAC29E92-AFF5-C1C9-B6D2-968F9926C345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8F29354A-FD34-C9C5-A4D1-6AE2A3E20EBE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2A347635-4E84-1F88-24BB-D8B69942AF3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B209A8A6-7C5F-2EBC-B93F-4CE3BE203868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6B344DBA-5E41-43D4-3AB5-4E61B88C3C77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B86A2130-B419-B193-E4EF-9BC72C0AA08B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99AFAF43-6649-7846-8B8A-C2AF541BF309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4392E6FF-9943-D223-5C0F-4E2703EAFFB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B47D8DB5-BA0B-D8FF-F928-76A9DB69BBF5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016F6C1E-9D3C-3D33-F682-4497DD162D54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7B14DDD2-4FC7-B9A8-30BE-21FAAB2648CF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7504B312-9812-6D54-C894-929D08818C1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1D3B7CDE-4205-6E48-47AF-3A42ED08084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84596FC4-F8BB-D7F9-5202-F91BE3FF0AC5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8C6A0046-3C86-74E9-FD07-DEAF1B81D6AE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601E612D-5BF3-2F5E-63B6-1F4D9E7349D8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3EBEC07E-24CA-275D-5785-8D56AF3254CE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0141F9E1-C290-5354-26DD-138A7C5E511E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3171EADE-58B5-3BCB-440A-ECA0AC7F33B2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76EEF10D-8778-B49F-8174-B93057953C69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A5A1112B-8C11-88C2-B6D1-8ADF8881ED02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E218F6BF-F631-E244-79D9-7C846CD53C40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8FB72DFD-E739-F802-B864-9D8EB6C62081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C20EA21B-C5BA-7691-EDA3-DA28990DBEC1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B04852CB-06A4-DC90-278A-A402A75BFF8D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AFF153C2-C561-6F2F-4DF8-92F21F5C188E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9A7E78D9-848B-B479-6CE3-2B03B1C5C74B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9558FB15-2D09-8F8C-2C3B-5038AE1B97D6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EA1ACFAA-16B1-7666-A3F7-77B8C48E97A4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9D75833F-C39B-11C1-E02A-87CC7EED3AC5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43363161-FA06-6A03-DE24-6F0A31A36557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0E499907-F8C6-50F8-F230-E779B614CFD2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393E4811-45BE-885E-0A0C-3C11C81123E9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AAA76A36-0089-1DF2-08A3-E014F3ADAC16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56B43678-DEA5-3C2D-7C62-F75FDEDB5C8C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FC501A8A-80CD-9DEA-E831-69E2C2B17148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7F53F222-9E4F-846C-C86B-70B0107678F8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D50976BC-891B-3C7A-3397-9E0F5B72C678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B6E6AECF-9E31-C8E1-E146-06F83526E099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369B9E4B-BEF4-24C4-0092-8ABE5F3A22DD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F18C26DD-9F8B-BACA-5C5C-D79CFC0F9B8F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CAF8F0E6-8517-6566-F33A-0D7F4BDCA64E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5B7777B3-E2B2-D8D7-325A-F78D43A63E70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A9B5AB69-EB7C-7982-24F8-7B305B90BE91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3E59533F-A875-52C2-9906-0D05ED4FB7CB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E1F55CF2-B57B-D1EA-A4EB-39545C3438BE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4BF30392-B7D5-A506-FB72-E9DD999F1AA0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D0315B44-E54D-2F22-4AF4-EDF577CE91D7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ED6E54F1-85A7-730A-3DFE-9DF501314741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TabelaIRPJ">
            <a:extLst>
              <a:ext uri="{FF2B5EF4-FFF2-40B4-BE49-F238E27FC236}">
                <a16:creationId xmlns:a16="http://schemas.microsoft.com/office/drawing/2014/main" id="{A83741C8-50B5-4640-64A4-C31E658E7E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991" y="2531611"/>
            <a:ext cx="16411854" cy="444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78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00641-8F56-E5D7-7474-15235515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43AB86-C419-70BF-2534-6B121C437A2E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E7355F9-D837-ED91-FE43-476E39A8B945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EC6A14-5729-8F99-052E-D7EB140336EB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IPI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DEEBA502-6BAE-330D-0625-AE8DABE96936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0BB826F7-B8AC-8556-5819-E47258EDA4AF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B0FFE108-547C-48AC-3D49-495A0FFDE050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7424D5F5-31A5-A733-EFB6-EB38DD861C56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2DCF42FE-A802-31BE-35D9-5CA52841DEDC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B62C03A1-B3FA-08FA-593E-141B90743096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13635564-5F70-2616-107D-D409D471203D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550C3A30-BFFB-BAAF-D737-B8FB4C4069E2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A2D5A8AB-7E14-EB91-6810-AFF9E37D8388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90827A1A-198D-14A9-0024-9356C14AFB6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75A29E42-07BE-DC74-6F5E-4BE0C17248BE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ECB59EF9-AF76-F738-A8B4-4EF4EEEECCC9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0C26E6A4-1B5F-E163-319A-DBAE32F30374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6346C6F7-1850-C382-A855-8415B1BF92C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1A978078-3777-A6C7-FA8A-0A3109BDB1B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4A30C20A-DF93-87A2-560A-325AD5FDB5F0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C066E6D4-FDE7-C45F-559E-2D9302C4BC35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38C1DC8E-E818-5E34-84F7-625063DF291B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3A6351F6-FBF7-DC05-3025-4D6077E4665B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29AFA914-B38C-6528-C138-4F6F0E160D7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1B548F76-BC5C-217E-154F-CFAEEDACD0A0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6CCD5CCC-8B4C-1E14-F2FB-C22B00CF14B0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75281860-B26C-5305-948B-F57378307AB5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26B8EA4F-FB47-8D86-6C3B-FFC17BD9AC11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2645FDF6-AAB7-2C9D-AE58-B592396CB43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E6485BDE-F596-6ACC-5E32-1ABC09CCAA84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8975F2A2-F19A-7705-20E5-879A80121EFD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64EA6EA3-8DC4-2F53-F8E8-A3F094C14DCC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D37BBCED-5C8A-FC86-93B6-F5A32B7990E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55F9AC48-B315-E2DD-33A3-2C3F33327E6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0BC07597-5D28-40EF-2437-B88DFFDB64F9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98E0692F-413C-3FE3-BC5D-CD55D739C93C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F2978713-4100-7003-6DDD-BFC2EE54BCE2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9C1908B5-655A-852B-7950-5D74C6EC740A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9DE87AA3-A34F-4FBC-7087-B28DDA100DF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14B2E37D-F5D4-968C-E711-6B9C3A0259FD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57643F98-1AC2-16F6-4C33-84279A507DB3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C6193C1E-CED0-2DC0-D2EF-3FE3FFF4F4F0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DC275E3D-A668-F5B1-08DC-E648004D39D5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357FC2FE-40FE-05D5-718E-0D8EB52490D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29FE495F-B557-C715-E873-A43B74F5D516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BA740644-7CF5-827A-3088-8E99EED30092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2D3C059F-7E3D-530E-9219-CE9562C583CE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F0FCA8D4-415B-B237-E94B-31BEC8E71688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FB1CCE15-B14E-825A-C17D-DF5681AA0E8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C2A6014A-D79E-E992-4EF2-9ACC666F2306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EA5C3E9A-9D50-5A50-8A84-B8DAF1398102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74360E28-7D12-8598-47B7-D57EF9EEAACB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F475822D-9E81-BB1C-6768-704951AFCA19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6C677D18-CD09-FAE8-9CCF-02CFF4727E43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A812D1AE-27D1-0F3D-2540-3ECF97B45188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4AFEEFF9-A09F-B0A3-3F28-2C245B9649D1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63596BE4-0B9F-1B77-DE2C-E74E0592C4F5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54699989-A1B6-8287-A2D1-086855DC663D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E56493CC-6AFA-CED1-9B30-B91500036F73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F82BB873-850D-C8C9-1738-15A1C78B5A01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CC5DB94C-5E99-1D41-6CE4-909D2D745C16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CE1081E9-6DCF-9FBF-A12B-D9BBA2E39779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B55DCA6B-CF38-FF94-EC76-C627B4CF4D87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0DED059B-9F0F-3F60-68C9-1E215B231035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CBD3002C-DAC7-146F-7D2D-72CF4ACABECF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FB7F6A6E-3CAE-F5E7-69E8-6FBC4E140960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E8BC5EC1-B366-6B75-DDA5-B7AE114607EB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1C170340-3BA6-EB85-4FAC-883561463174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641A99A9-5952-178C-C031-D85799DE88EE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875D0F78-D465-8360-1567-01D033FBF63E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ABC9881B-AD4A-16B3-2546-F2348B6B2953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C9EB51E5-4E45-7A61-7957-00F21CBFC016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D1BB9992-E2F6-9685-0D7C-19C516FB8155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6A163104-565D-FBC4-92CE-5E04DE67F224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5C398207-7129-094A-3EC4-3941D63126FA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E8B27A83-13CB-9D4C-D0DF-06636AA957BE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F1CEBDAD-671E-A468-5202-D356839A6079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339188C6-14F5-B455-6EC1-65CE6DF77041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A4988EA6-6983-E47E-2483-5AF66C8006E5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2271F871-A872-C0C2-8DA2-0945E6032A47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32F9B057-58E8-A558-EC25-AAB54B8AC0A2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EEB3411D-ECF0-7731-1B98-936022B2F528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6EB4E1E3-2252-3506-2312-25C0F76B682E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C6915B96-B702-67CB-D4B4-1609476B1D4B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9797DA7F-3294-AE15-E968-2E1D4FE7E03A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TabelaIPI">
            <a:extLst>
              <a:ext uri="{FF2B5EF4-FFF2-40B4-BE49-F238E27FC236}">
                <a16:creationId xmlns:a16="http://schemas.microsoft.com/office/drawing/2014/main" id="{0AEEBF49-11A6-0960-A029-566155B990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991" y="2531610"/>
            <a:ext cx="16411854" cy="382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3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286A2-EF65-A3E6-18B3-9645660A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BD4DFD-E220-A18D-08E7-69A4CA43F4CD}"/>
              </a:ext>
            </a:extLst>
          </p:cNvPr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712BA61-A768-CA93-31CA-B396C6F4707C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2ABBF85-EEA0-9C55-7DBE-03BE3228F79F}"/>
              </a:ext>
            </a:extLst>
          </p:cNvPr>
          <p:cNvSpPr txBox="1"/>
          <p:nvPr/>
        </p:nvSpPr>
        <p:spPr>
          <a:xfrm>
            <a:off x="5813452" y="3867506"/>
            <a:ext cx="6661095" cy="2599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7"/>
              </a:lnSpc>
            </a:pPr>
            <a:r>
              <a:rPr lang="en-US" sz="9542" spc="-53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JORNADA </a:t>
            </a:r>
          </a:p>
          <a:p>
            <a:pPr algn="ctr">
              <a:lnSpc>
                <a:spcPts val="9447"/>
              </a:lnSpc>
            </a:pPr>
            <a:r>
              <a:rPr lang="en-US" sz="9542" b="1" spc="-534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 CRÉDITO</a:t>
            </a:r>
          </a:p>
        </p:txBody>
      </p:sp>
    </p:spTree>
    <p:extLst>
      <p:ext uri="{BB962C8B-B14F-4D97-AF65-F5344CB8AC3E}">
        <p14:creationId xmlns:p14="http://schemas.microsoft.com/office/powerpoint/2010/main" val="2066918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5CDB3-9691-1BDA-9312-36054DE8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2">
            <a:extLst>
              <a:ext uri="{FF2B5EF4-FFF2-40B4-BE49-F238E27FC236}">
                <a16:creationId xmlns:a16="http://schemas.microsoft.com/office/drawing/2014/main" id="{E80A0AE8-85D6-7064-489B-5455134F75B5}"/>
              </a:ext>
            </a:extLst>
          </p:cNvPr>
          <p:cNvGrpSpPr/>
          <p:nvPr/>
        </p:nvGrpSpPr>
        <p:grpSpPr>
          <a:xfrm>
            <a:off x="12880135" y="6378267"/>
            <a:ext cx="2337381" cy="345159"/>
            <a:chOff x="0" y="0"/>
            <a:chExt cx="387675" cy="79515"/>
          </a:xfrm>
        </p:grpSpPr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669B48F0-BA4C-A1DB-CAB0-A89D0BA6A076}"/>
                </a:ext>
              </a:extLst>
            </p:cNvPr>
            <p:cNvSpPr/>
            <p:nvPr/>
          </p:nvSpPr>
          <p:spPr>
            <a:xfrm>
              <a:off x="0" y="0"/>
              <a:ext cx="387675" cy="79515"/>
            </a:xfrm>
            <a:custGeom>
              <a:avLst/>
              <a:gdLst/>
              <a:ahLst/>
              <a:cxnLst/>
              <a:rect l="l" t="t" r="r" b="b"/>
              <a:pathLst>
                <a:path w="387675" h="79515">
                  <a:moveTo>
                    <a:pt x="0" y="0"/>
                  </a:moveTo>
                  <a:lnTo>
                    <a:pt x="387675" y="0"/>
                  </a:lnTo>
                  <a:lnTo>
                    <a:pt x="387675" y="79515"/>
                  </a:lnTo>
                  <a:lnTo>
                    <a:pt x="0" y="79515"/>
                  </a:ln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7D6A4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4">
              <a:extLst>
                <a:ext uri="{FF2B5EF4-FFF2-40B4-BE49-F238E27FC236}">
                  <a16:creationId xmlns:a16="http://schemas.microsoft.com/office/drawing/2014/main" id="{317CE2B0-FA9F-FDDC-C51E-269543C7EB71}"/>
                </a:ext>
              </a:extLst>
            </p:cNvPr>
            <p:cNvSpPr txBox="1"/>
            <p:nvPr/>
          </p:nvSpPr>
          <p:spPr>
            <a:xfrm>
              <a:off x="0" y="-57150"/>
              <a:ext cx="387675" cy="136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D94BC18C-2011-2A0A-641C-3B42AA96B2F3}"/>
              </a:ext>
            </a:extLst>
          </p:cNvPr>
          <p:cNvSpPr/>
          <p:nvPr/>
        </p:nvSpPr>
        <p:spPr>
          <a:xfrm>
            <a:off x="10636208" y="-686971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2632AB-5209-B4AE-1E8A-5057B1FF5C3D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4AE6CA7-F1BF-C6EA-7DBD-5F9DACB5206A}"/>
              </a:ext>
            </a:extLst>
          </p:cNvPr>
          <p:cNvSpPr/>
          <p:nvPr/>
        </p:nvSpPr>
        <p:spPr>
          <a:xfrm>
            <a:off x="-230827" y="5620740"/>
            <a:ext cx="18290228" cy="80476"/>
          </a:xfrm>
          <a:prstGeom prst="line">
            <a:avLst/>
          </a:prstGeom>
          <a:ln w="38100" cap="flat">
            <a:solidFill>
              <a:srgbClr val="BBA17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EFEE7F4-44B7-FDEB-CA83-ECD503E9A3BA}"/>
              </a:ext>
            </a:extLst>
          </p:cNvPr>
          <p:cNvGrpSpPr/>
          <p:nvPr/>
        </p:nvGrpSpPr>
        <p:grpSpPr>
          <a:xfrm>
            <a:off x="4359394" y="5326015"/>
            <a:ext cx="653564" cy="65356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04E274B-9D8A-D310-7097-90172D8DCF4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F7B952-2976-B7A3-D40B-9AF12A8AC58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26A5E91B-8B62-4398-1D86-81673534D6BD}"/>
              </a:ext>
            </a:extLst>
          </p:cNvPr>
          <p:cNvSpPr/>
          <p:nvPr/>
        </p:nvSpPr>
        <p:spPr>
          <a:xfrm flipV="1">
            <a:off x="14063114" y="5064920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8B825DC-CBFF-AEBE-A3C3-C65103942486}"/>
              </a:ext>
            </a:extLst>
          </p:cNvPr>
          <p:cNvGrpSpPr/>
          <p:nvPr/>
        </p:nvGrpSpPr>
        <p:grpSpPr>
          <a:xfrm>
            <a:off x="13722045" y="5335166"/>
            <a:ext cx="653564" cy="653564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1FADFE8-3A47-45D6-96E0-9B0F77450C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B96D405-314E-63BF-6EEF-B6F58B30088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8DDFED5A-B66B-E62C-97B9-24147165ACAF}"/>
              </a:ext>
            </a:extLst>
          </p:cNvPr>
          <p:cNvSpPr/>
          <p:nvPr/>
        </p:nvSpPr>
        <p:spPr>
          <a:xfrm>
            <a:off x="9343303" y="5293958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E8F5754-9777-E94E-EC04-E70E8701ECAA}"/>
              </a:ext>
            </a:extLst>
          </p:cNvPr>
          <p:cNvGrpSpPr/>
          <p:nvPr/>
        </p:nvGrpSpPr>
        <p:grpSpPr>
          <a:xfrm>
            <a:off x="9015620" y="5293958"/>
            <a:ext cx="653564" cy="653564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105EF11-0640-3DF6-F7A4-7E24ACEC8E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B68C1DD-487F-28BD-B6F8-EA2DE5F2A1C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6" name="AutoShape 16">
            <a:extLst>
              <a:ext uri="{FF2B5EF4-FFF2-40B4-BE49-F238E27FC236}">
                <a16:creationId xmlns:a16="http://schemas.microsoft.com/office/drawing/2014/main" id="{6FDBCEA8-4874-7575-1075-A5DC75E701FB}"/>
              </a:ext>
            </a:extLst>
          </p:cNvPr>
          <p:cNvSpPr/>
          <p:nvPr/>
        </p:nvSpPr>
        <p:spPr>
          <a:xfrm flipH="1" flipV="1">
            <a:off x="4700587" y="5011198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0D5ECEE-A7D8-603E-1005-9DDC0BC296F6}"/>
              </a:ext>
            </a:extLst>
          </p:cNvPr>
          <p:cNvSpPr/>
          <p:nvPr/>
        </p:nvSpPr>
        <p:spPr>
          <a:xfrm>
            <a:off x="4461569" y="5468528"/>
            <a:ext cx="392063" cy="368539"/>
          </a:xfrm>
          <a:custGeom>
            <a:avLst/>
            <a:gdLst/>
            <a:ahLst/>
            <a:cxnLst/>
            <a:rect l="l" t="t" r="r" b="b"/>
            <a:pathLst>
              <a:path w="392063" h="368539">
                <a:moveTo>
                  <a:pt x="0" y="0"/>
                </a:moveTo>
                <a:lnTo>
                  <a:pt x="392063" y="0"/>
                </a:lnTo>
                <a:lnTo>
                  <a:pt x="392063" y="368539"/>
                </a:lnTo>
                <a:lnTo>
                  <a:pt x="0" y="36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1C16EF16-A22E-DBE6-5EFE-19C39759FE7E}"/>
              </a:ext>
            </a:extLst>
          </p:cNvPr>
          <p:cNvSpPr/>
          <p:nvPr/>
        </p:nvSpPr>
        <p:spPr>
          <a:xfrm>
            <a:off x="9155372" y="5433710"/>
            <a:ext cx="374060" cy="374060"/>
          </a:xfrm>
          <a:custGeom>
            <a:avLst/>
            <a:gdLst/>
            <a:ahLst/>
            <a:cxnLst/>
            <a:rect l="l" t="t" r="r" b="b"/>
            <a:pathLst>
              <a:path w="374060" h="374060">
                <a:moveTo>
                  <a:pt x="0" y="0"/>
                </a:moveTo>
                <a:lnTo>
                  <a:pt x="374061" y="0"/>
                </a:lnTo>
                <a:lnTo>
                  <a:pt x="374061" y="374060"/>
                </a:lnTo>
                <a:lnTo>
                  <a:pt x="0" y="374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852E0E6B-E146-40CD-A965-D07DEE5AF7F0}"/>
              </a:ext>
            </a:extLst>
          </p:cNvPr>
          <p:cNvSpPr/>
          <p:nvPr/>
        </p:nvSpPr>
        <p:spPr>
          <a:xfrm>
            <a:off x="13835065" y="5461813"/>
            <a:ext cx="427524" cy="400269"/>
          </a:xfrm>
          <a:custGeom>
            <a:avLst/>
            <a:gdLst/>
            <a:ahLst/>
            <a:cxnLst/>
            <a:rect l="l" t="t" r="r" b="b"/>
            <a:pathLst>
              <a:path w="427524" h="400269">
                <a:moveTo>
                  <a:pt x="0" y="0"/>
                </a:moveTo>
                <a:lnTo>
                  <a:pt x="427524" y="0"/>
                </a:lnTo>
                <a:lnTo>
                  <a:pt x="427524" y="400269"/>
                </a:lnTo>
                <a:lnTo>
                  <a:pt x="0" y="400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E627FD1-A53F-412F-6FA8-003C23DB7B90}"/>
              </a:ext>
            </a:extLst>
          </p:cNvPr>
          <p:cNvSpPr txBox="1"/>
          <p:nvPr/>
        </p:nvSpPr>
        <p:spPr>
          <a:xfrm>
            <a:off x="4669666" y="1431407"/>
            <a:ext cx="971953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LINHA DO TEMPO</a:t>
            </a: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COMPENSAÇÃO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C580C0E-78F9-DB7E-8E77-75A2B8C87BFD}"/>
              </a:ext>
            </a:extLst>
          </p:cNvPr>
          <p:cNvSpPr txBox="1"/>
          <p:nvPr/>
        </p:nvSpPr>
        <p:spPr>
          <a:xfrm>
            <a:off x="2329913" y="6175047"/>
            <a:ext cx="4341733" cy="89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3"/>
              </a:lnSpc>
            </a:pP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Conclusão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</a:t>
            </a:r>
            <a:r>
              <a:rPr lang="en-US" sz="2058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058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retificação</a:t>
            </a:r>
            <a:r>
              <a:rPr lang="en-US" sz="2058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dos </a:t>
            </a:r>
            <a:r>
              <a:rPr lang="en-US" sz="2058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</a:t>
            </a:r>
            <a:r>
              <a:rPr lang="en-US" sz="2058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possibilidade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utilização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para </a:t>
            </a: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pagamento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DARF.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C4D28B0-AB51-2A93-306D-FB68B7F1D2F3}"/>
              </a:ext>
            </a:extLst>
          </p:cNvPr>
          <p:cNvSpPr txBox="1"/>
          <p:nvPr/>
        </p:nvSpPr>
        <p:spPr>
          <a:xfrm>
            <a:off x="2812685" y="4369501"/>
            <a:ext cx="3746982" cy="58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</a:pPr>
            <a:r>
              <a:rPr lang="en-US" sz="3713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COMPENSAÇÃO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E093752-9030-A0E0-DD9A-C3E494F66B7D}"/>
              </a:ext>
            </a:extLst>
          </p:cNvPr>
          <p:cNvSpPr txBox="1"/>
          <p:nvPr/>
        </p:nvSpPr>
        <p:spPr>
          <a:xfrm>
            <a:off x="12099151" y="3783483"/>
            <a:ext cx="3764737" cy="128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8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TEMPO MÉDIO DE </a:t>
            </a:r>
            <a:r>
              <a:rPr lang="en-US" sz="3286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UTILIZAÇÃO </a:t>
            </a:r>
            <a:r>
              <a:rPr lang="en-US" sz="328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DO BENEFÍCIO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C24FF87-F4E5-6D75-8EF5-E33AFCD46A7C}"/>
              </a:ext>
            </a:extLst>
          </p:cNvPr>
          <p:cNvSpPr txBox="1"/>
          <p:nvPr/>
        </p:nvSpPr>
        <p:spPr>
          <a:xfrm>
            <a:off x="1040309" y="8964553"/>
            <a:ext cx="6434257" cy="29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  <a:spcBef>
                <a:spcPct val="0"/>
              </a:spcBef>
            </a:pP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*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Valores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considerados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conforme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média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dos DARF dos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últimos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meses</a:t>
            </a:r>
          </a:p>
        </p:txBody>
      </p:sp>
      <p:sp>
        <p:nvSpPr>
          <p:cNvPr id="32" name="CaixaValores2">
            <a:extLst>
              <a:ext uri="{FF2B5EF4-FFF2-40B4-BE49-F238E27FC236}">
                <a16:creationId xmlns:a16="http://schemas.microsoft.com/office/drawing/2014/main" id="{2DA4B610-50D2-E04D-3831-FB2DF528801A}"/>
              </a:ext>
            </a:extLst>
          </p:cNvPr>
          <p:cNvSpPr txBox="1"/>
          <p:nvPr/>
        </p:nvSpPr>
        <p:spPr>
          <a:xfrm>
            <a:off x="7457916" y="6258986"/>
            <a:ext cx="4322354" cy="468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</a:pPr>
            <a:endParaRPr lang="en-US" sz="2500" b="1" dirty="0">
              <a:solidFill>
                <a:srgbClr val="FFFFFF"/>
              </a:solidFill>
              <a:latin typeface="Codec Pro"/>
              <a:ea typeface="Codec Pro Bold"/>
              <a:cs typeface="Codec Pro Bold"/>
              <a:sym typeface="Codec Pro"/>
            </a:endParaRPr>
          </a:p>
        </p:txBody>
      </p:sp>
      <p:sp>
        <p:nvSpPr>
          <p:cNvPr id="33" name="UTILIZAÇÃOADM">
            <a:extLst>
              <a:ext uri="{FF2B5EF4-FFF2-40B4-BE49-F238E27FC236}">
                <a16:creationId xmlns:a16="http://schemas.microsoft.com/office/drawing/2014/main" id="{5A6FE12A-D843-163F-B946-92D8AAAA1401}"/>
              </a:ext>
            </a:extLst>
          </p:cNvPr>
          <p:cNvSpPr txBox="1"/>
          <p:nvPr/>
        </p:nvSpPr>
        <p:spPr>
          <a:xfrm>
            <a:off x="13193019" y="6414198"/>
            <a:ext cx="1740190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6"/>
              </a:lnSpc>
            </a:pPr>
            <a:r>
              <a:rPr lang="en-US" sz="206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0 meses</a:t>
            </a:r>
            <a:endParaRPr lang="en-US" sz="2060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  <p:extLst>
      <p:ext uri="{BB962C8B-B14F-4D97-AF65-F5344CB8AC3E}">
        <p14:creationId xmlns:p14="http://schemas.microsoft.com/office/powerpoint/2010/main" val="210745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F9B05-071E-C969-E25C-60C6938F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70CF55-9BAB-B8D6-1F39-612568BC5077}"/>
              </a:ext>
            </a:extLst>
          </p:cNvPr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AC8A389-D99E-8525-7A8E-CA58AAE227CA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322EF99-FEBB-BB3D-D608-E170F122AECC}"/>
              </a:ext>
            </a:extLst>
          </p:cNvPr>
          <p:cNvSpPr/>
          <p:nvPr/>
        </p:nvSpPr>
        <p:spPr>
          <a:xfrm>
            <a:off x="-230828" y="5620740"/>
            <a:ext cx="19032507" cy="0"/>
          </a:xfrm>
          <a:prstGeom prst="line">
            <a:avLst/>
          </a:prstGeom>
          <a:ln w="38100" cap="flat">
            <a:solidFill>
              <a:srgbClr val="BBA17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4E52D6E-E57C-BB04-F577-C08C59E225C8}"/>
              </a:ext>
            </a:extLst>
          </p:cNvPr>
          <p:cNvGrpSpPr/>
          <p:nvPr/>
        </p:nvGrpSpPr>
        <p:grpSpPr>
          <a:xfrm>
            <a:off x="6120879" y="5180176"/>
            <a:ext cx="653564" cy="65356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EA7623-755F-02B7-0A5E-603FE13650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B306601-E36E-6C5A-E8D9-FB61C17D7A6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249A1C42-DDCA-C400-8785-C8C3D3C4A090}"/>
              </a:ext>
            </a:extLst>
          </p:cNvPr>
          <p:cNvSpPr/>
          <p:nvPr/>
        </p:nvSpPr>
        <p:spPr>
          <a:xfrm flipV="1">
            <a:off x="11811000" y="5006036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D689F1F9-5F5E-075A-992D-DB6ABCDE403E}"/>
              </a:ext>
            </a:extLst>
          </p:cNvPr>
          <p:cNvGrpSpPr/>
          <p:nvPr/>
        </p:nvGrpSpPr>
        <p:grpSpPr>
          <a:xfrm>
            <a:off x="11471286" y="5328403"/>
            <a:ext cx="653564" cy="653564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143B173-A72C-E299-4842-2715146A99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3702EEB-09A4-9D46-0AD0-46A5879B3E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" name="AutoShape 12">
            <a:extLst>
              <a:ext uri="{FF2B5EF4-FFF2-40B4-BE49-F238E27FC236}">
                <a16:creationId xmlns:a16="http://schemas.microsoft.com/office/drawing/2014/main" id="{E6342574-0D6C-35B4-5947-670358FC45B1}"/>
              </a:ext>
            </a:extLst>
          </p:cNvPr>
          <p:cNvSpPr/>
          <p:nvPr/>
        </p:nvSpPr>
        <p:spPr>
          <a:xfrm flipV="1">
            <a:off x="6462073" y="4865358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6F5C084-D8B9-CB2C-3AC7-0B1D9AB0F292}"/>
              </a:ext>
            </a:extLst>
          </p:cNvPr>
          <p:cNvSpPr txBox="1"/>
          <p:nvPr/>
        </p:nvSpPr>
        <p:spPr>
          <a:xfrm>
            <a:off x="5063268" y="1428903"/>
            <a:ext cx="893233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LINHA DO TEMPO</a:t>
            </a: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RESTITUIÇÃO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E2A0532-2171-20D2-BFDF-2471A8D90C77}"/>
              </a:ext>
            </a:extLst>
          </p:cNvPr>
          <p:cNvSpPr txBox="1"/>
          <p:nvPr/>
        </p:nvSpPr>
        <p:spPr>
          <a:xfrm>
            <a:off x="4300567" y="3921151"/>
            <a:ext cx="4197255" cy="80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3394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Transmissão</a:t>
            </a:r>
            <a:r>
              <a:rPr lang="en-US" sz="339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das </a:t>
            </a:r>
            <a:r>
              <a:rPr lang="en-US" sz="3394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retificações</a:t>
            </a:r>
            <a:r>
              <a:rPr lang="en-US" sz="339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2810520-D696-3253-0A00-38CA3D63D1CD}"/>
              </a:ext>
            </a:extLst>
          </p:cNvPr>
          <p:cNvGrpSpPr/>
          <p:nvPr/>
        </p:nvGrpSpPr>
        <p:grpSpPr>
          <a:xfrm>
            <a:off x="9657170" y="3911264"/>
            <a:ext cx="4281797" cy="706357"/>
            <a:chOff x="0" y="0"/>
            <a:chExt cx="482006" cy="7951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F3B365A-4BCA-8EC3-3A35-9018CB0F90D7}"/>
                </a:ext>
              </a:extLst>
            </p:cNvPr>
            <p:cNvSpPr/>
            <p:nvPr/>
          </p:nvSpPr>
          <p:spPr>
            <a:xfrm>
              <a:off x="0" y="0"/>
              <a:ext cx="482006" cy="79515"/>
            </a:xfrm>
            <a:custGeom>
              <a:avLst/>
              <a:gdLst/>
              <a:ahLst/>
              <a:cxnLst/>
              <a:rect l="l" t="t" r="r" b="b"/>
              <a:pathLst>
                <a:path w="482006" h="79515">
                  <a:moveTo>
                    <a:pt x="0" y="0"/>
                  </a:moveTo>
                  <a:lnTo>
                    <a:pt x="482006" y="0"/>
                  </a:lnTo>
                  <a:lnTo>
                    <a:pt x="482006" y="79515"/>
                  </a:lnTo>
                  <a:lnTo>
                    <a:pt x="0" y="79515"/>
                  </a:ln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7D6A4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4C3153-BA12-953C-B060-66FC87D901C6}"/>
                </a:ext>
              </a:extLst>
            </p:cNvPr>
            <p:cNvSpPr txBox="1"/>
            <p:nvPr/>
          </p:nvSpPr>
          <p:spPr>
            <a:xfrm>
              <a:off x="0" y="-57150"/>
              <a:ext cx="482006" cy="136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125AF8B5-EE47-5EEE-E9C2-DA61305CCC02}"/>
              </a:ext>
            </a:extLst>
          </p:cNvPr>
          <p:cNvSpPr txBox="1"/>
          <p:nvPr/>
        </p:nvSpPr>
        <p:spPr>
          <a:xfrm>
            <a:off x="9679218" y="3976871"/>
            <a:ext cx="4172581" cy="6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4256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Média</a:t>
            </a:r>
            <a:r>
              <a:rPr lang="en-US" sz="425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8 meses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611209D-CB23-819C-569B-0588E76DFCD3}"/>
              </a:ext>
            </a:extLst>
          </p:cNvPr>
          <p:cNvSpPr txBox="1"/>
          <p:nvPr/>
        </p:nvSpPr>
        <p:spPr>
          <a:xfrm>
            <a:off x="9657170" y="6138330"/>
            <a:ext cx="4281797" cy="123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339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Prazo médio para </a:t>
            </a:r>
            <a:r>
              <a:rPr lang="en-US" sz="339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recebimento</a:t>
            </a:r>
          </a:p>
          <a:p>
            <a:pPr algn="ctr">
              <a:lnSpc>
                <a:spcPts val="3055"/>
              </a:lnSpc>
            </a:pPr>
            <a:r>
              <a:rPr lang="en-US" sz="339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em conta corrente.</a:t>
            </a:r>
          </a:p>
        </p:txBody>
      </p:sp>
    </p:spTree>
    <p:extLst>
      <p:ext uri="{BB962C8B-B14F-4D97-AF65-F5344CB8AC3E}">
        <p14:creationId xmlns:p14="http://schemas.microsoft.com/office/powerpoint/2010/main" val="1650330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B9B9B">
                <a:alpha val="145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17637-6660-F361-A35E-3C318760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3D192F9-FDAF-D10B-8055-EF9C12DF28A2}"/>
              </a:ext>
            </a:extLst>
          </p:cNvPr>
          <p:cNvSpPr txBox="1"/>
          <p:nvPr/>
        </p:nvSpPr>
        <p:spPr>
          <a:xfrm>
            <a:off x="9139238" y="4968052"/>
            <a:ext cx="9525" cy="29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FA25570-EE43-98E1-9F53-66F02DA4DC7A}"/>
              </a:ext>
            </a:extLst>
          </p:cNvPr>
          <p:cNvSpPr txBox="1"/>
          <p:nvPr/>
        </p:nvSpPr>
        <p:spPr>
          <a:xfrm>
            <a:off x="1100138" y="3162300"/>
            <a:ext cx="16078200" cy="4706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21"/>
              </a:lnSpc>
            </a:pP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retificação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das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declarações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transmissão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para as bases da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Receita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Federal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são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responsabilidade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da Studio Fiscal, com base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na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decisão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gerencial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empresa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sobre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o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aproveitamento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dos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valores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apresentados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2921"/>
              </a:lnSpc>
            </a:pP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2921"/>
              </a:lnSpc>
            </a:pPr>
            <a:r>
              <a:rPr lang="en-US" sz="2632" b="1" spc="-76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Obrigatório</a:t>
            </a:r>
            <a:r>
              <a:rPr lang="en-US" sz="2632" b="1" spc="-76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632" b="1" spc="-76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disponibilizar</a:t>
            </a:r>
            <a:r>
              <a:rPr lang="en-US" sz="2632" b="1" spc="-76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</a:t>
            </a:r>
          </a:p>
          <a:p>
            <a:pPr marL="568250" lvl="1" indent="-284125" algn="just">
              <a:lnSpc>
                <a:spcPts val="2921"/>
              </a:lnSpc>
              <a:buFont typeface="Arial"/>
              <a:buChar char="•"/>
            </a:pP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Procuração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Eletrônica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ou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Certificado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Al</a:t>
            </a:r>
          </a:p>
          <a:p>
            <a:pPr marL="568250" lvl="1" indent="-284125" algn="just">
              <a:lnSpc>
                <a:spcPts val="2921"/>
              </a:lnSpc>
              <a:buFont typeface="Arial"/>
              <a:buChar char="•"/>
            </a:pP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Dados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bancários</a:t>
            </a: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568250" lvl="1" indent="-284125" algn="just">
              <a:lnSpc>
                <a:spcPts val="2921"/>
              </a:lnSpc>
              <a:buFont typeface="Arial"/>
              <a:buChar char="•"/>
            </a:pP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Documentos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complementares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(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caso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manifestado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pela equipe)</a:t>
            </a:r>
          </a:p>
          <a:p>
            <a:pPr algn="just">
              <a:lnSpc>
                <a:spcPts val="2921"/>
              </a:lnSpc>
            </a:pP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2921"/>
              </a:lnSpc>
            </a:pP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retificação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terá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início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somente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após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disponibilização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todas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as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informações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citadas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acima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2921"/>
              </a:lnSpc>
            </a:pP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2402"/>
              </a:lnSpc>
            </a:pP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OBS: Como forma de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segurança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a Studio Fiscal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solicita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dados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bancários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para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registro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pedidos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de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restituição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independente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compensação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restituição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dos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créditos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3B6288A-F38D-FD62-140B-833DCD107C37}"/>
              </a:ext>
            </a:extLst>
          </p:cNvPr>
          <p:cNvSpPr txBox="1"/>
          <p:nvPr/>
        </p:nvSpPr>
        <p:spPr>
          <a:xfrm>
            <a:off x="6616958" y="1212214"/>
            <a:ext cx="5054084" cy="960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8"/>
              </a:lnSpc>
              <a:spcBef>
                <a:spcPct val="0"/>
              </a:spcBef>
            </a:pPr>
            <a:r>
              <a:rPr lang="en-US" sz="5720" b="1" dirty="0">
                <a:solidFill>
                  <a:srgbClr val="796B5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RETIFICAÇÃO</a:t>
            </a:r>
          </a:p>
        </p:txBody>
      </p:sp>
    </p:spTree>
    <p:extLst>
      <p:ext uri="{BB962C8B-B14F-4D97-AF65-F5344CB8AC3E}">
        <p14:creationId xmlns:p14="http://schemas.microsoft.com/office/powerpoint/2010/main" val="43658136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17E61-5587-2B73-56C0-33C4CABB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DF1161-D111-1D40-B33B-64D6EFD08E91}"/>
              </a:ext>
            </a:extLst>
          </p:cNvPr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FAD064-BD95-5DE3-49E4-65A99F43D1D5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0F374D2-7969-CEEC-633E-F18D25110A77}"/>
              </a:ext>
            </a:extLst>
          </p:cNvPr>
          <p:cNvGrpSpPr/>
          <p:nvPr/>
        </p:nvGrpSpPr>
        <p:grpSpPr>
          <a:xfrm>
            <a:off x="8663332" y="0"/>
            <a:ext cx="10489300" cy="10287000"/>
            <a:chOff x="0" y="0"/>
            <a:chExt cx="2762614" cy="2709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2D129B-9051-2B51-AB93-5ADBD4E169DB}"/>
                </a:ext>
              </a:extLst>
            </p:cNvPr>
            <p:cNvSpPr/>
            <p:nvPr/>
          </p:nvSpPr>
          <p:spPr>
            <a:xfrm>
              <a:off x="0" y="0"/>
              <a:ext cx="2762614" cy="2709333"/>
            </a:xfrm>
            <a:custGeom>
              <a:avLst/>
              <a:gdLst/>
              <a:ahLst/>
              <a:cxnLst/>
              <a:rect l="l" t="t" r="r" b="b"/>
              <a:pathLst>
                <a:path w="2762614" h="2709333">
                  <a:moveTo>
                    <a:pt x="49451" y="0"/>
                  </a:moveTo>
                  <a:lnTo>
                    <a:pt x="2713163" y="0"/>
                  </a:lnTo>
                  <a:cubicBezTo>
                    <a:pt x="2740474" y="0"/>
                    <a:pt x="2762614" y="22140"/>
                    <a:pt x="2762614" y="49451"/>
                  </a:cubicBezTo>
                  <a:lnTo>
                    <a:pt x="2762614" y="2659882"/>
                  </a:lnTo>
                  <a:cubicBezTo>
                    <a:pt x="2762614" y="2672997"/>
                    <a:pt x="2757404" y="2685575"/>
                    <a:pt x="2748130" y="2694849"/>
                  </a:cubicBezTo>
                  <a:cubicBezTo>
                    <a:pt x="2738856" y="2704123"/>
                    <a:pt x="2726278" y="2709333"/>
                    <a:pt x="2713163" y="2709333"/>
                  </a:cubicBezTo>
                  <a:lnTo>
                    <a:pt x="49451" y="2709333"/>
                  </a:lnTo>
                  <a:cubicBezTo>
                    <a:pt x="36336" y="2709333"/>
                    <a:pt x="23758" y="2704123"/>
                    <a:pt x="14484" y="2694849"/>
                  </a:cubicBezTo>
                  <a:cubicBezTo>
                    <a:pt x="5210" y="2685575"/>
                    <a:pt x="0" y="2672997"/>
                    <a:pt x="0" y="2659882"/>
                  </a:cubicBezTo>
                  <a:lnTo>
                    <a:pt x="0" y="49451"/>
                  </a:lnTo>
                  <a:cubicBezTo>
                    <a:pt x="0" y="36336"/>
                    <a:pt x="5210" y="23758"/>
                    <a:pt x="14484" y="14484"/>
                  </a:cubicBezTo>
                  <a:cubicBezTo>
                    <a:pt x="23758" y="5210"/>
                    <a:pt x="36336" y="0"/>
                    <a:pt x="49451" y="0"/>
                  </a:cubicBezTo>
                  <a:close/>
                </a:path>
              </a:pathLst>
            </a:custGeom>
            <a:solidFill>
              <a:srgbClr val="897149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1B63CBB-59D9-F1F6-8693-66FB099EE283}"/>
                </a:ext>
              </a:extLst>
            </p:cNvPr>
            <p:cNvSpPr txBox="1"/>
            <p:nvPr/>
          </p:nvSpPr>
          <p:spPr>
            <a:xfrm>
              <a:off x="0" y="-57150"/>
              <a:ext cx="276261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9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7798288-C032-5D24-E9DA-489701034AE8}"/>
              </a:ext>
            </a:extLst>
          </p:cNvPr>
          <p:cNvSpPr txBox="1"/>
          <p:nvPr/>
        </p:nvSpPr>
        <p:spPr>
          <a:xfrm>
            <a:off x="894478" y="4377951"/>
            <a:ext cx="5414315" cy="1902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531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Análise</a:t>
            </a:r>
            <a:endParaRPr lang="en-US" sz="5319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4681"/>
              </a:lnSpc>
            </a:pPr>
            <a:r>
              <a:rPr lang="en-US" sz="5319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FINANCEIRA </a:t>
            </a:r>
          </a:p>
          <a:p>
            <a:pPr algn="l">
              <a:lnSpc>
                <a:spcPts val="4681"/>
              </a:lnSpc>
            </a:pPr>
            <a:r>
              <a:rPr lang="en-US" sz="5319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 ECONÔMICA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11DFED-9DF7-CBC0-1DDD-6FC9CCB47661}"/>
              </a:ext>
            </a:extLst>
          </p:cNvPr>
          <p:cNvSpPr/>
          <p:nvPr/>
        </p:nvSpPr>
        <p:spPr>
          <a:xfrm>
            <a:off x="10905720" y="-6464614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DFC0F2-A0C6-B146-74C7-38FD4CFDAE09}"/>
              </a:ext>
            </a:extLst>
          </p:cNvPr>
          <p:cNvSpPr txBox="1"/>
          <p:nvPr/>
        </p:nvSpPr>
        <p:spPr>
          <a:xfrm>
            <a:off x="9401175" y="3409379"/>
            <a:ext cx="7420673" cy="347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75"/>
              </a:lnSpc>
            </a:pP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Esta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análise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visa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identificar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de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redução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do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custo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financeiro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 </a:t>
            </a:r>
            <a:r>
              <a:rPr lang="en-US" sz="3799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empresa</a:t>
            </a:r>
            <a:r>
              <a:rPr lang="en-US" sz="37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através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conversão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créditos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tributários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em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operações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estratégicas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3799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inteligentes</a:t>
            </a:r>
            <a:r>
              <a:rPr lang="en-US" sz="379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6D4DCBB-B6BA-17FF-1E52-0A00C8BABC46}"/>
              </a:ext>
            </a:extLst>
          </p:cNvPr>
          <p:cNvSpPr/>
          <p:nvPr/>
        </p:nvSpPr>
        <p:spPr>
          <a:xfrm>
            <a:off x="0" y="6444327"/>
            <a:ext cx="4700587" cy="5129609"/>
          </a:xfrm>
          <a:custGeom>
            <a:avLst/>
            <a:gdLst/>
            <a:ahLst/>
            <a:cxnLst/>
            <a:rect l="l" t="t" r="r" b="b"/>
            <a:pathLst>
              <a:path w="4700587" h="5129609">
                <a:moveTo>
                  <a:pt x="0" y="0"/>
                </a:moveTo>
                <a:lnTo>
                  <a:pt x="4700588" y="0"/>
                </a:lnTo>
                <a:lnTo>
                  <a:pt x="4700588" y="5129609"/>
                </a:lnTo>
                <a:lnTo>
                  <a:pt x="0" y="5129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0744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663332" y="0"/>
            <a:ext cx="10489300" cy="10287000"/>
            <a:chOff x="0" y="0"/>
            <a:chExt cx="2762614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62614" cy="2709333"/>
            </a:xfrm>
            <a:custGeom>
              <a:avLst/>
              <a:gdLst/>
              <a:ahLst/>
              <a:cxnLst/>
              <a:rect l="l" t="t" r="r" b="b"/>
              <a:pathLst>
                <a:path w="2762614" h="2709333">
                  <a:moveTo>
                    <a:pt x="49451" y="0"/>
                  </a:moveTo>
                  <a:lnTo>
                    <a:pt x="2713163" y="0"/>
                  </a:lnTo>
                  <a:cubicBezTo>
                    <a:pt x="2740474" y="0"/>
                    <a:pt x="2762614" y="22140"/>
                    <a:pt x="2762614" y="49451"/>
                  </a:cubicBezTo>
                  <a:lnTo>
                    <a:pt x="2762614" y="2659882"/>
                  </a:lnTo>
                  <a:cubicBezTo>
                    <a:pt x="2762614" y="2672997"/>
                    <a:pt x="2757404" y="2685575"/>
                    <a:pt x="2748130" y="2694849"/>
                  </a:cubicBezTo>
                  <a:cubicBezTo>
                    <a:pt x="2738856" y="2704123"/>
                    <a:pt x="2726278" y="2709333"/>
                    <a:pt x="2713163" y="2709333"/>
                  </a:cubicBezTo>
                  <a:lnTo>
                    <a:pt x="49451" y="2709333"/>
                  </a:lnTo>
                  <a:cubicBezTo>
                    <a:pt x="36336" y="2709333"/>
                    <a:pt x="23758" y="2704123"/>
                    <a:pt x="14484" y="2694849"/>
                  </a:cubicBezTo>
                  <a:cubicBezTo>
                    <a:pt x="5210" y="2685575"/>
                    <a:pt x="0" y="2672997"/>
                    <a:pt x="0" y="2659882"/>
                  </a:cubicBezTo>
                  <a:lnTo>
                    <a:pt x="0" y="49451"/>
                  </a:lnTo>
                  <a:cubicBezTo>
                    <a:pt x="0" y="36336"/>
                    <a:pt x="5210" y="23758"/>
                    <a:pt x="14484" y="14484"/>
                  </a:cubicBezTo>
                  <a:cubicBezTo>
                    <a:pt x="23758" y="5210"/>
                    <a:pt x="36336" y="0"/>
                    <a:pt x="49451" y="0"/>
                  </a:cubicBezTo>
                  <a:close/>
                </a:path>
              </a:pathLst>
            </a:custGeom>
            <a:solidFill>
              <a:srgbClr val="89714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76261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9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4478" y="4377951"/>
            <a:ext cx="5414315" cy="249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dirty="0" err="1">
                <a:solidFill>
                  <a:schemeClr val="bg1"/>
                </a:solidFill>
                <a:latin typeface="Codec Pro"/>
                <a:ea typeface="Codec Pro"/>
                <a:cs typeface="Codec Pro"/>
                <a:sym typeface="Codec Pro"/>
              </a:rPr>
              <a:t>Entendendo</a:t>
            </a:r>
            <a:r>
              <a:rPr lang="en-US" sz="5400" dirty="0">
                <a:solidFill>
                  <a:schemeClr val="bg1"/>
                </a:solidFill>
                <a:latin typeface="Codec Pro"/>
                <a:ea typeface="Codec Pro"/>
                <a:cs typeface="Codec Pro"/>
                <a:sym typeface="Codec Pro"/>
              </a:rPr>
              <a:t> a </a:t>
            </a:r>
          </a:p>
          <a:p>
            <a:r>
              <a:rPr lang="en-US" sz="54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DINÂMICA DAS CORES</a:t>
            </a:r>
            <a:endParaRPr lang="en-US" sz="5400" b="1" dirty="0">
              <a:solidFill>
                <a:srgbClr val="5C492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905720" y="-6464614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6444327"/>
            <a:ext cx="4700587" cy="5129609"/>
          </a:xfrm>
          <a:custGeom>
            <a:avLst/>
            <a:gdLst/>
            <a:ahLst/>
            <a:cxnLst/>
            <a:rect l="l" t="t" r="r" b="b"/>
            <a:pathLst>
              <a:path w="4700587" h="5129609">
                <a:moveTo>
                  <a:pt x="0" y="0"/>
                </a:moveTo>
                <a:lnTo>
                  <a:pt x="4700588" y="0"/>
                </a:lnTo>
                <a:lnTo>
                  <a:pt x="4700588" y="5129609"/>
                </a:lnTo>
                <a:lnTo>
                  <a:pt x="0" y="5129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2"/>
          <p:cNvSpPr txBox="1"/>
          <p:nvPr/>
        </p:nvSpPr>
        <p:spPr>
          <a:xfrm>
            <a:off x="10840690" y="4630749"/>
            <a:ext cx="3638831" cy="59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9"/>
              </a:lnSpc>
              <a:spcBef>
                <a:spcPct val="0"/>
              </a:spcBef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37" name="Group 3"/>
          <p:cNvGrpSpPr/>
          <p:nvPr/>
        </p:nvGrpSpPr>
        <p:grpSpPr>
          <a:xfrm>
            <a:off x="9746679" y="1242902"/>
            <a:ext cx="7661792" cy="5599019"/>
            <a:chOff x="0" y="0"/>
            <a:chExt cx="1765069" cy="1289862"/>
          </a:xfrm>
        </p:grpSpPr>
        <p:sp>
          <p:nvSpPr>
            <p:cNvPr id="38" name="Freeform 4"/>
            <p:cNvSpPr/>
            <p:nvPr/>
          </p:nvSpPr>
          <p:spPr>
            <a:xfrm>
              <a:off x="0" y="0"/>
              <a:ext cx="1765069" cy="1289862"/>
            </a:xfrm>
            <a:custGeom>
              <a:avLst/>
              <a:gdLst/>
              <a:ahLst/>
              <a:cxnLst/>
              <a:rect l="l" t="t" r="r" b="b"/>
              <a:pathLst>
                <a:path w="1765069" h="1289862">
                  <a:moveTo>
                    <a:pt x="18188" y="0"/>
                  </a:moveTo>
                  <a:lnTo>
                    <a:pt x="1746881" y="0"/>
                  </a:lnTo>
                  <a:cubicBezTo>
                    <a:pt x="1756926" y="0"/>
                    <a:pt x="1765069" y="8143"/>
                    <a:pt x="1765069" y="18188"/>
                  </a:cubicBezTo>
                  <a:lnTo>
                    <a:pt x="1765069" y="1271674"/>
                  </a:lnTo>
                  <a:cubicBezTo>
                    <a:pt x="1765069" y="1281719"/>
                    <a:pt x="1756926" y="1289862"/>
                    <a:pt x="1746881" y="1289862"/>
                  </a:cubicBezTo>
                  <a:lnTo>
                    <a:pt x="18188" y="1289862"/>
                  </a:lnTo>
                  <a:cubicBezTo>
                    <a:pt x="13364" y="1289862"/>
                    <a:pt x="8738" y="1287946"/>
                    <a:pt x="5327" y="1284535"/>
                  </a:cubicBezTo>
                  <a:cubicBezTo>
                    <a:pt x="1916" y="1281124"/>
                    <a:pt x="0" y="1276498"/>
                    <a:pt x="0" y="1271674"/>
                  </a:cubicBezTo>
                  <a:lnTo>
                    <a:pt x="0" y="18188"/>
                  </a:lnTo>
                  <a:cubicBezTo>
                    <a:pt x="0" y="8143"/>
                    <a:pt x="8143" y="0"/>
                    <a:pt x="181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BBA176">
                      <a:alpha val="100000"/>
                    </a:srgbClr>
                  </a:gs>
                  <a:gs pos="100000">
                    <a:srgbClr val="7D6A4B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39" name="TextBox 5"/>
            <p:cNvSpPr txBox="1"/>
            <p:nvPr/>
          </p:nvSpPr>
          <p:spPr>
            <a:xfrm>
              <a:off x="0" y="-57150"/>
              <a:ext cx="1765069" cy="1347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40" name="TextBox 6"/>
          <p:cNvSpPr txBox="1"/>
          <p:nvPr/>
        </p:nvSpPr>
        <p:spPr>
          <a:xfrm>
            <a:off x="10846876" y="5203476"/>
            <a:ext cx="5451838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1603" dirty="0">
                <a:solidFill>
                  <a:schemeClr val="bg1"/>
                </a:solidFill>
                <a:latin typeface="Codec Pro"/>
              </a:rPr>
              <a:t>Enquadram-se neste nível os temas que ainda estão sem decisão definitiva, apresentando decisões favoráveis e desfavoráveis, tais como em matérias com Repercussão Geral (STF) ou Repetitivo de Controvérsia (STJ), modulação de efeitos, inclusive em razão de análise constitucional e infraconstitucional. Nesses casos, a tomada de decisão de aproveitamento dos créditos previdenciários, possui finalidade estratégica financeira.</a:t>
            </a:r>
          </a:p>
        </p:txBody>
      </p:sp>
      <p:sp>
        <p:nvSpPr>
          <p:cNvPr id="41" name="TextBox 7"/>
          <p:cNvSpPr txBox="1"/>
          <p:nvPr/>
        </p:nvSpPr>
        <p:spPr>
          <a:xfrm>
            <a:off x="10815196" y="6603680"/>
            <a:ext cx="3754807" cy="59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9"/>
              </a:lnSpc>
              <a:spcBef>
                <a:spcPct val="0"/>
              </a:spcBef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2" name="TextBox 8"/>
          <p:cNvSpPr txBox="1"/>
          <p:nvPr/>
        </p:nvSpPr>
        <p:spPr>
          <a:xfrm>
            <a:off x="10873855" y="8314015"/>
            <a:ext cx="5424859" cy="1233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1603" dirty="0">
                <a:solidFill>
                  <a:schemeClr val="bg1"/>
                </a:solidFill>
                <a:latin typeface="Codec Pro"/>
              </a:rPr>
              <a:t>Temas que possuem jurisprudência majoritária desfavorável ao contribuinte ou foram objeto de análise pelo STJ e STF, mas que representam ativo estratégico financeiro relevante com vantagem competitiva de mercado para a empresa.</a:t>
            </a:r>
          </a:p>
        </p:txBody>
      </p:sp>
      <p:sp>
        <p:nvSpPr>
          <p:cNvPr id="43" name="TextBox 9"/>
          <p:cNvSpPr txBox="1"/>
          <p:nvPr/>
        </p:nvSpPr>
        <p:spPr>
          <a:xfrm>
            <a:off x="10812620" y="1696161"/>
            <a:ext cx="5486094" cy="50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-96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Créditos Verdes</a:t>
            </a:r>
          </a:p>
        </p:txBody>
      </p:sp>
      <p:sp>
        <p:nvSpPr>
          <p:cNvPr id="44" name="TextBox 10"/>
          <p:cNvSpPr txBox="1"/>
          <p:nvPr/>
        </p:nvSpPr>
        <p:spPr>
          <a:xfrm>
            <a:off x="10873855" y="2327961"/>
            <a:ext cx="5458024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75"/>
              </a:lnSpc>
            </a:pPr>
            <a:r>
              <a:rPr lang="pt-BR" sz="1603" dirty="0">
                <a:solidFill>
                  <a:schemeClr val="bg1"/>
                </a:solidFill>
                <a:latin typeface="Codec Pro"/>
              </a:rPr>
              <a:t>Temas consolidados que possuem embasamento jurídico sólido e favorável ao contribuinte/empresa, decorrentes diretamente da legislação, de decisões da própria Receita Federal (RFB), Conselho Administrativo de Recursos Fiscais (CARF) e decisões dos Tribunais Superiores, tais como o Superior Tribunal de Justiça (STJ), Supremo Tribunal Federal (STF).</a:t>
            </a:r>
          </a:p>
        </p:txBody>
      </p:sp>
      <p:sp>
        <p:nvSpPr>
          <p:cNvPr id="45" name="TextBox 11"/>
          <p:cNvSpPr txBox="1"/>
          <p:nvPr/>
        </p:nvSpPr>
        <p:spPr>
          <a:xfrm>
            <a:off x="10804125" y="4620088"/>
            <a:ext cx="5839366" cy="50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-96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Créditos </a:t>
            </a:r>
            <a:r>
              <a:rPr lang="en-US" sz="3000" b="1" spc="-96" dirty="0" err="1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Amarelos</a:t>
            </a:r>
            <a:endParaRPr lang="en-US" sz="3000" b="1" spc="-96" dirty="0">
              <a:solidFill>
                <a:schemeClr val="bg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46" name="TextBox 12"/>
          <p:cNvSpPr txBox="1"/>
          <p:nvPr/>
        </p:nvSpPr>
        <p:spPr>
          <a:xfrm>
            <a:off x="10873855" y="7771650"/>
            <a:ext cx="6312539" cy="52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4"/>
              </a:lnSpc>
              <a:spcBef>
                <a:spcPct val="0"/>
              </a:spcBef>
            </a:pPr>
            <a:r>
              <a:rPr lang="en-US" sz="3138" b="1" spc="-100" dirty="0">
                <a:solidFill>
                  <a:schemeClr val="bg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Créditos Vermelhos</a:t>
            </a:r>
          </a:p>
        </p:txBody>
      </p:sp>
      <p:grpSp>
        <p:nvGrpSpPr>
          <p:cNvPr id="47" name="Group 14"/>
          <p:cNvGrpSpPr/>
          <p:nvPr/>
        </p:nvGrpSpPr>
        <p:grpSpPr>
          <a:xfrm>
            <a:off x="10281279" y="1758984"/>
            <a:ext cx="407212" cy="378657"/>
            <a:chOff x="0" y="0"/>
            <a:chExt cx="66786" cy="62102"/>
          </a:xfrm>
        </p:grpSpPr>
        <p:sp>
          <p:nvSpPr>
            <p:cNvPr id="48" name="Freeform 15"/>
            <p:cNvSpPr/>
            <p:nvPr/>
          </p:nvSpPr>
          <p:spPr>
            <a:xfrm>
              <a:off x="0" y="0"/>
              <a:ext cx="66786" cy="62102"/>
            </a:xfrm>
            <a:custGeom>
              <a:avLst/>
              <a:gdLst/>
              <a:ahLst/>
              <a:cxnLst/>
              <a:rect l="l" t="t" r="r" b="b"/>
              <a:pathLst>
                <a:path w="66786" h="62102">
                  <a:moveTo>
                    <a:pt x="31051" y="0"/>
                  </a:moveTo>
                  <a:lnTo>
                    <a:pt x="35735" y="0"/>
                  </a:lnTo>
                  <a:cubicBezTo>
                    <a:pt x="43970" y="0"/>
                    <a:pt x="51868" y="3271"/>
                    <a:pt x="57691" y="9095"/>
                  </a:cubicBezTo>
                  <a:cubicBezTo>
                    <a:pt x="63514" y="14918"/>
                    <a:pt x="66786" y="22816"/>
                    <a:pt x="66786" y="31051"/>
                  </a:cubicBezTo>
                  <a:lnTo>
                    <a:pt x="66786" y="31051"/>
                  </a:lnTo>
                  <a:cubicBezTo>
                    <a:pt x="66786" y="48200"/>
                    <a:pt x="52884" y="62102"/>
                    <a:pt x="35735" y="62102"/>
                  </a:cubicBezTo>
                  <a:lnTo>
                    <a:pt x="31051" y="62102"/>
                  </a:lnTo>
                  <a:cubicBezTo>
                    <a:pt x="22816" y="62102"/>
                    <a:pt x="14918" y="58831"/>
                    <a:pt x="9095" y="53008"/>
                  </a:cubicBezTo>
                  <a:cubicBezTo>
                    <a:pt x="3271" y="47184"/>
                    <a:pt x="0" y="39286"/>
                    <a:pt x="0" y="31051"/>
                  </a:cubicBezTo>
                  <a:lnTo>
                    <a:pt x="0" y="31051"/>
                  </a:lnTo>
                  <a:cubicBezTo>
                    <a:pt x="0" y="22816"/>
                    <a:pt x="3271" y="14918"/>
                    <a:pt x="9095" y="9095"/>
                  </a:cubicBezTo>
                  <a:cubicBezTo>
                    <a:pt x="14918" y="3271"/>
                    <a:pt x="22816" y="0"/>
                    <a:pt x="31051" y="0"/>
                  </a:cubicBezTo>
                  <a:close/>
                </a:path>
              </a:pathLst>
            </a:custGeom>
            <a:solidFill>
              <a:srgbClr val="3AB03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9" name="TextBox 16"/>
            <p:cNvSpPr txBox="1"/>
            <p:nvPr/>
          </p:nvSpPr>
          <p:spPr>
            <a:xfrm>
              <a:off x="0" y="-57150"/>
              <a:ext cx="66786" cy="119252"/>
            </a:xfrm>
            <a:prstGeom prst="rect">
              <a:avLst/>
            </a:prstGeom>
          </p:spPr>
          <p:txBody>
            <a:bodyPr lIns="81578" tIns="81578" rIns="81578" bIns="81578" rtlCol="0" anchor="ctr"/>
            <a:lstStyle/>
            <a:p>
              <a:pPr algn="ctr">
                <a:lnSpc>
                  <a:spcPts val="2184"/>
                </a:lnSpc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 17"/>
          <p:cNvGrpSpPr/>
          <p:nvPr/>
        </p:nvGrpSpPr>
        <p:grpSpPr>
          <a:xfrm>
            <a:off x="10281279" y="4777470"/>
            <a:ext cx="407212" cy="378657"/>
            <a:chOff x="0" y="0"/>
            <a:chExt cx="66786" cy="62102"/>
          </a:xfrm>
        </p:grpSpPr>
        <p:sp>
          <p:nvSpPr>
            <p:cNvPr id="51" name="Freeform 18"/>
            <p:cNvSpPr/>
            <p:nvPr/>
          </p:nvSpPr>
          <p:spPr>
            <a:xfrm>
              <a:off x="0" y="0"/>
              <a:ext cx="66786" cy="62102"/>
            </a:xfrm>
            <a:custGeom>
              <a:avLst/>
              <a:gdLst/>
              <a:ahLst/>
              <a:cxnLst/>
              <a:rect l="l" t="t" r="r" b="b"/>
              <a:pathLst>
                <a:path w="66786" h="62102">
                  <a:moveTo>
                    <a:pt x="31051" y="0"/>
                  </a:moveTo>
                  <a:lnTo>
                    <a:pt x="35735" y="0"/>
                  </a:lnTo>
                  <a:cubicBezTo>
                    <a:pt x="43970" y="0"/>
                    <a:pt x="51868" y="3271"/>
                    <a:pt x="57691" y="9095"/>
                  </a:cubicBezTo>
                  <a:cubicBezTo>
                    <a:pt x="63514" y="14918"/>
                    <a:pt x="66786" y="22816"/>
                    <a:pt x="66786" y="31051"/>
                  </a:cubicBezTo>
                  <a:lnTo>
                    <a:pt x="66786" y="31051"/>
                  </a:lnTo>
                  <a:cubicBezTo>
                    <a:pt x="66786" y="48200"/>
                    <a:pt x="52884" y="62102"/>
                    <a:pt x="35735" y="62102"/>
                  </a:cubicBezTo>
                  <a:lnTo>
                    <a:pt x="31051" y="62102"/>
                  </a:lnTo>
                  <a:cubicBezTo>
                    <a:pt x="22816" y="62102"/>
                    <a:pt x="14918" y="58831"/>
                    <a:pt x="9095" y="53008"/>
                  </a:cubicBezTo>
                  <a:cubicBezTo>
                    <a:pt x="3271" y="47184"/>
                    <a:pt x="0" y="39286"/>
                    <a:pt x="0" y="31051"/>
                  </a:cubicBezTo>
                  <a:lnTo>
                    <a:pt x="0" y="31051"/>
                  </a:lnTo>
                  <a:cubicBezTo>
                    <a:pt x="0" y="22816"/>
                    <a:pt x="3271" y="14918"/>
                    <a:pt x="9095" y="9095"/>
                  </a:cubicBezTo>
                  <a:cubicBezTo>
                    <a:pt x="14918" y="3271"/>
                    <a:pt x="22816" y="0"/>
                    <a:pt x="31051" y="0"/>
                  </a:cubicBezTo>
                  <a:close/>
                </a:path>
              </a:pathLst>
            </a:custGeom>
            <a:solidFill>
              <a:srgbClr val="FFCC34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2" name="TextBox 19"/>
            <p:cNvSpPr txBox="1"/>
            <p:nvPr/>
          </p:nvSpPr>
          <p:spPr>
            <a:xfrm>
              <a:off x="0" y="-57150"/>
              <a:ext cx="66786" cy="119252"/>
            </a:xfrm>
            <a:prstGeom prst="rect">
              <a:avLst/>
            </a:prstGeom>
          </p:spPr>
          <p:txBody>
            <a:bodyPr lIns="81578" tIns="81578" rIns="81578" bIns="81578" rtlCol="0" anchor="ctr"/>
            <a:lstStyle/>
            <a:p>
              <a:pPr algn="ctr">
                <a:lnSpc>
                  <a:spcPts val="2184"/>
                </a:lnSpc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Group 20"/>
          <p:cNvGrpSpPr/>
          <p:nvPr/>
        </p:nvGrpSpPr>
        <p:grpSpPr>
          <a:xfrm>
            <a:off x="10308009" y="7836747"/>
            <a:ext cx="407212" cy="378657"/>
            <a:chOff x="0" y="0"/>
            <a:chExt cx="66786" cy="62102"/>
          </a:xfrm>
        </p:grpSpPr>
        <p:sp>
          <p:nvSpPr>
            <p:cNvPr id="54" name="Freeform 21"/>
            <p:cNvSpPr/>
            <p:nvPr/>
          </p:nvSpPr>
          <p:spPr>
            <a:xfrm>
              <a:off x="0" y="0"/>
              <a:ext cx="66786" cy="62102"/>
            </a:xfrm>
            <a:custGeom>
              <a:avLst/>
              <a:gdLst/>
              <a:ahLst/>
              <a:cxnLst/>
              <a:rect l="l" t="t" r="r" b="b"/>
              <a:pathLst>
                <a:path w="66786" h="62102">
                  <a:moveTo>
                    <a:pt x="31051" y="0"/>
                  </a:moveTo>
                  <a:lnTo>
                    <a:pt x="35735" y="0"/>
                  </a:lnTo>
                  <a:cubicBezTo>
                    <a:pt x="43970" y="0"/>
                    <a:pt x="51868" y="3271"/>
                    <a:pt x="57691" y="9095"/>
                  </a:cubicBezTo>
                  <a:cubicBezTo>
                    <a:pt x="63514" y="14918"/>
                    <a:pt x="66786" y="22816"/>
                    <a:pt x="66786" y="31051"/>
                  </a:cubicBezTo>
                  <a:lnTo>
                    <a:pt x="66786" y="31051"/>
                  </a:lnTo>
                  <a:cubicBezTo>
                    <a:pt x="66786" y="48200"/>
                    <a:pt x="52884" y="62102"/>
                    <a:pt x="35735" y="62102"/>
                  </a:cubicBezTo>
                  <a:lnTo>
                    <a:pt x="31051" y="62102"/>
                  </a:lnTo>
                  <a:cubicBezTo>
                    <a:pt x="22816" y="62102"/>
                    <a:pt x="14918" y="58831"/>
                    <a:pt x="9095" y="53008"/>
                  </a:cubicBezTo>
                  <a:cubicBezTo>
                    <a:pt x="3271" y="47184"/>
                    <a:pt x="0" y="39286"/>
                    <a:pt x="0" y="31051"/>
                  </a:cubicBezTo>
                  <a:lnTo>
                    <a:pt x="0" y="31051"/>
                  </a:lnTo>
                  <a:cubicBezTo>
                    <a:pt x="0" y="22816"/>
                    <a:pt x="3271" y="14918"/>
                    <a:pt x="9095" y="9095"/>
                  </a:cubicBezTo>
                  <a:cubicBezTo>
                    <a:pt x="14918" y="3271"/>
                    <a:pt x="22816" y="0"/>
                    <a:pt x="31051" y="0"/>
                  </a:cubicBezTo>
                  <a:close/>
                </a:path>
              </a:pathLst>
            </a:custGeom>
            <a:solidFill>
              <a:srgbClr val="FB2222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5" name="TextBox 22"/>
            <p:cNvSpPr txBox="1"/>
            <p:nvPr/>
          </p:nvSpPr>
          <p:spPr>
            <a:xfrm>
              <a:off x="0" y="-57150"/>
              <a:ext cx="66786" cy="119252"/>
            </a:xfrm>
            <a:prstGeom prst="rect">
              <a:avLst/>
            </a:prstGeom>
          </p:spPr>
          <p:txBody>
            <a:bodyPr lIns="81578" tIns="81578" rIns="81578" bIns="81578" rtlCol="0" anchor="ctr"/>
            <a:lstStyle/>
            <a:p>
              <a:pPr algn="ctr">
                <a:lnSpc>
                  <a:spcPts val="2184"/>
                </a:lnSpc>
              </a:pPr>
              <a:endParaRPr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484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0A634-1B39-B20D-8E68-0CFA962E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DCFC8F-EE10-C20A-931E-7F6A4BC37C34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C8ED999-AE83-DB04-E1DA-466B67FA0C76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037ACBE-29AF-3F94-2FD0-7D20A1B78691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PIS/COFINS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65AE9D61-67A9-2DFD-CF92-CD3818102ACC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C1B19A52-088D-435C-F5BD-C5F800ACB12E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6BF95C5C-4318-8CA1-3FB3-464FB13070D1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3FE8BD37-D9CE-AFC8-1A67-377527E62ECA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4D0BED8A-0FF5-88C3-ECE9-54BA318A17D2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E4FF1FC3-9B92-3F9F-05FD-8C1EE7F14AAC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AF4AFE07-26A6-2A60-D338-A31D463C977A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27C57A82-1839-7008-46A5-0675CC9A0E90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3A7E8049-C71F-F20C-8B04-A84D46A08B86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B5388076-30A2-4AA0-E808-F87CA84408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BA5C52EA-3358-2E0C-B3C7-7E78D0A3BAC0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5E13A34D-AC8E-ABF6-97EB-D1153F078BBF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16960F58-5F02-4AFB-61FA-20F56E99E188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E6EA2AC4-69EC-9B3F-5D04-9C3B06DBB9DF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E11E281D-89A0-787D-221E-D5B909327FD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1077A166-3D62-4357-A484-2939F174055C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F33D1F99-FB8E-F60C-A076-56DBA69B3E51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4CED8118-B253-4C65-3EB1-8F92FCA3D089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361F40D5-A9AC-6545-7E4E-69BDEF879E5C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0785D4CD-164E-703B-3A9E-8C74CBD5EF8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150A13A2-1152-AC45-2366-C0E2A3DCFCCD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3B28AB64-B3ED-FE2F-4A46-9DDEA36E9C73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396958C3-87FE-245A-134A-B08F73BE187C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B974AE3F-2AB1-7F8C-4CE0-240E8F96566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A0AF3D0C-0CDB-FD04-2C6A-0CBD279AC17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3F8FE725-F777-94BA-E6BD-057FC85D515F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C6DA87E1-C005-8E0C-8103-6E60828BD0ED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D70662E0-1A14-24EA-65D2-6527AB5B874E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2CCBF304-8E52-92DD-BC69-400F5AC14F6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14E93D41-CCD0-680A-916A-118D3D17E8C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3BDC2526-47E0-AF9E-4B32-C13E2B4E50F8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56DCA7DA-6887-A81C-9F29-67D316408C6D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9055124F-6CE7-BD12-7F9F-946F847F9E4B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5E7B20D6-6F03-BC0F-AFBF-0CD92A2A4316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9A3A5E3E-7677-26ED-285E-2201859CDCD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28989027-878C-06D9-12BD-50099A760618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480172BE-BE86-7387-7040-0ABAF4B5BA2C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5CC6443B-B144-211E-D3D1-DC30D643F11E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1C5635DA-4EC9-67D1-2E9D-A8F35AD3C9FF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49813FF1-B5E1-AA7E-E736-F9AE5BAB124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B21993A6-C290-BFEC-51B7-6DB0A608A1AF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A67337AE-8467-B777-1E8E-3C8C9CE767E0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191EDCB6-5E94-89D5-FDF5-A252D9073F68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8CCE8EE8-EA3F-678C-5E84-B1AC60D013A9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3AF2D589-6C9D-6671-D3D4-12ECF0E0A62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91CABBA7-A842-B2EA-15CA-9E4EA0904CA1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D34E66A4-104C-AD58-3312-23BF4A85E5AB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A47A52CF-80E5-5B01-4F05-89497A65DD87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BF5FA327-768E-9508-0C2C-CA007D64866E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E8F3F587-D4D9-7DC8-7736-AA355B22E1A2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01EC8C29-A7E6-4B52-5709-30F31BA7F554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107674C5-FD25-CF9F-A1DF-DE441A06361B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F35FF2AC-553F-6A7F-C234-F8A6A9E89042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AFAB1E07-CEA2-32A8-59B0-6F29684EC8F7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EC31633F-AFEA-F27E-5B55-BF5F54051265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5555C438-02B6-4886-50CA-84DD68542532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68A6C468-014C-3765-0435-9176B49BB96A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C6A22AFD-2E4E-1B55-05D0-4DFFB3A54B96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6B97E56E-7007-616E-BB73-91D52190D7D9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6D687AC0-1DFC-83F8-3338-3F15B89059F1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DE161149-2972-7D0D-B5E0-16BC509350CE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CFE5FC2E-A8CD-9014-E27E-8BDB8613DDD5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4C702FF3-0DA3-715D-D436-34B6A807DB5D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79DA60B8-BC27-15F1-3F1E-8BE220D2C8B1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D0C6D36A-E13B-A662-435B-745EA4323FA8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A3B897D7-26C6-4513-872F-E7678668E419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B70A5F14-BFE0-EEAB-163F-CB28B1814895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BAD71471-6431-3256-AB22-96642721F19A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39016BEC-528D-4A2D-017F-5F3C32F54500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58E67213-5C6B-128B-F7E3-75F30E231D34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DAD82EC8-5E91-3BED-07E7-F10EC24C6A65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B137A295-4666-D814-4710-AC05659B3F4F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FEB31E49-1F8D-D4AD-B940-D6FAD075BA7F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F054BAE4-5103-5A05-BDD4-A8D7F24E98DD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D944CBF8-45C3-1560-AB45-D902C709CC7A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49F5CE8B-AAD0-F94C-260A-6905BC00453B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55420242-B19B-80AC-E9EB-EBC68F1A3781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64B1CC9C-C2CB-E4FE-3855-35D504301230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8C9DCCE3-5047-E7F3-8649-E29812884B6D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F6210F30-AD4A-1571-6B21-5717DEDF817B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765BAAAB-3756-8B4C-045F-E6AF97329E30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FintaxPIS">
            <a:extLst>
              <a:ext uri="{FF2B5EF4-FFF2-40B4-BE49-F238E27FC236}">
                <a16:creationId xmlns:a16="http://schemas.microsoft.com/office/drawing/2014/main" id="{5AF9CE14-F507-63ED-2538-BA6BD2AAC6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309" y="2127331"/>
            <a:ext cx="15364434" cy="745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5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F9F60-1558-45CD-3901-C9BF0B9C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D22D31-4D1A-7D82-03C2-8E5612B1EEE8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181013-A173-14E2-E507-730D04B15BBC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1AFA7C-CCBB-8608-F907-565BC55CFCFE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INSS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522F489F-0F66-4575-C523-8B8FB9E31F49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684AD913-338A-6B88-7A99-703F9DCC5698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E01306A2-4BD1-D734-0998-2719485791E4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DD57F033-6CA9-EDC4-1BB0-FB224DF2BF28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7268F8A9-B139-96E9-7608-DF76327395BA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AB77C0CD-4EAE-C4A2-39F4-E6BAE03BDC85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64C33C41-25BC-5922-359C-58B1036DAAD8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22D04D57-7EC7-F1EB-BE88-6BD9DB75A83C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4F8B4DEB-925D-901E-8812-D34B27F34F6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94105415-8219-A197-ABB0-BC48A7F7B173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743E8F0A-F73F-E369-42EB-3412792E6E66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270BFA64-B96C-8209-EA01-7F11326B136A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7BAD3915-7789-0A1A-489B-BD4FCAA4462D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06BC15E3-AF7C-08BC-996C-12FD2A2FE40E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3DBD1A79-91E9-E0BE-5ED4-75C49E35F4B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1FA2A37E-96EC-E4DC-0AEF-F616A891D1E5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81C6D699-B4EA-CC7F-E055-D8F9C0C204D6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470B41E1-750A-B4BF-65F1-64896B973386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9B697830-D1AC-5FDE-1390-0E21548E454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FD9E3C7C-BA30-DB91-72EC-DE4E9C4360C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06DA4F4E-E7E7-4D01-35A9-A422AC41B51B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2A95DDC4-06A9-1F14-90DC-547ED64D0615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E1F4F009-CB78-D8F6-B3E8-2396C7D20A65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CF463B2E-025F-67DF-FDCC-61CB963597D7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DD63D8C5-4BC5-7F62-5713-322C8FD2304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4284AB14-40E4-AB11-3D24-99005EB37D8C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91B604C9-E254-C5D2-0B89-E8227E06ADC5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2C260A00-9458-1769-0B09-06AB18C352D1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1327CEC7-A8A7-00FF-F548-055DA95C9C72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A45D8BFC-E0CC-2ACF-88A7-BA6C81288F6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E89F2F70-AD42-384B-0260-D8BA101D6511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14B9F89D-0FCA-4438-8072-5FF0BFBD9272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630A2A63-5D43-EE75-6C0E-CCE7EBF84450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6D25A3DB-665E-5E03-E3AE-F05A34E05AFA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EBCEB66D-D4A7-6772-4760-02C4AA451DD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6103F237-B439-425E-8922-B0938050AA91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F7D7A05D-33F8-62A7-FFB4-DDBCA636E175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4DF86DDA-9E79-9C91-06C5-AD201EEAB5F3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9792B03F-F3F1-903A-AB27-8FEFACF35549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15DBAE65-8FCC-0F5A-A5DE-6BCEEDA8055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732A5329-1ABA-3CDF-F864-A02F67D148D8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7119E4F5-0427-DCC5-DB12-DC778E011F48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36D755E0-2C2D-4FFF-9CD9-4276F0383D60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86C03425-A470-D80D-2117-815310C85218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A1A46248-24E3-F1E4-6F77-B4DFA632289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F65B41BE-4338-CA0E-4656-325DC4EBAFEB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C3A69453-0BDB-0483-5A92-B8957A8561D5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0E75CDC6-FAFB-09BE-D68E-96B0A82B7214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D1A152E0-3529-EB80-6D88-1D790EA67AD7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1812851D-2129-E6B1-F872-72AE6A6B6BDB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301FB2C0-4BB6-3528-EB47-FD08A943BCD5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D94A59BD-BB60-D722-A6E3-E161EC67509F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37FFC3EB-8F74-551C-BD84-44411DD5272C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5D27479B-BBC4-38BB-CF38-1FBE75163074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2531C91C-8A61-DE29-2A40-DEC3D588D8BE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57CB6AB0-771F-32EE-9182-449EEFA4A583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5B1729DB-E168-A253-CC72-789EF8188F33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CA57A629-7ECB-0A48-28A8-9A3BFA94E92B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52B5B7E5-3DD5-D482-8EE0-C793BBA2677F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ADD5C517-DBA0-FDA7-3FF8-AB94B19DA582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CFE1DB84-33E2-9EED-D05F-19673CB78A47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FB888A50-0B38-72E9-38A8-5BBAD1C012EF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E1E576DD-C344-DC49-EFEC-162186BFB582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C4FA3FD2-8B02-5BD1-61D5-09B7A154073D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7EBCD831-7FB3-60C3-1C90-8E5DA2A16013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D9B55653-D702-EE71-B98D-33A18AF75431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EF9AC130-673C-DED9-B8E8-C6C3476D5D6B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8C338824-6C7F-4EFD-A21A-9D4B79A374DF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D9506D98-0B18-1640-05E8-C30455E137AE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7CABDE31-64F5-23F3-538E-E2758075CC86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901FF134-A98A-86F6-8E8E-E6824AF08A5F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154FC489-182A-1DE2-93A6-2BF6C8243AFE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D7A96773-8BAD-E739-8463-771242B9A6C6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B46E6990-AABB-22D0-55F9-42AA11308BB6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C614B119-51C2-4FDE-7C80-8EEF8AA97B3C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A2310405-FBD9-66CD-49A7-383CED9184A1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5CABE6AF-1C66-492E-5939-B04968767BA6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FB928130-7A09-2DDA-EB28-F3E4475C1044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DB58F387-3C45-8CFF-5AD3-2410A6288524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0D0F0653-7B76-689D-8DCB-FC060EF69EA1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7A3446FA-A5E9-64AA-BB1A-3F9FDEDBB864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FintaxINSS">
            <a:extLst>
              <a:ext uri="{FF2B5EF4-FFF2-40B4-BE49-F238E27FC236}">
                <a16:creationId xmlns:a16="http://schemas.microsoft.com/office/drawing/2014/main" id="{3A56959B-9589-F34C-5BB2-1CD6B6CA01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584" y="2278080"/>
            <a:ext cx="14606783" cy="708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1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4C17E-A384-B059-5672-9B3546FE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988337-D2C1-2A66-3DF6-307110AF1F64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8C348DE-1D24-C7EC-64E7-FED9BA659F1C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A70577-F73C-1544-A63C-F5F34339BC4C}"/>
              </a:ext>
            </a:extLst>
          </p:cNvPr>
          <p:cNvSpPr txBox="1"/>
          <p:nvPr/>
        </p:nvSpPr>
        <p:spPr>
          <a:xfrm>
            <a:off x="4007405" y="692660"/>
            <a:ext cx="10273191" cy="1048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algn="ctr">
              <a:lnSpc>
                <a:spcPts val="3960"/>
              </a:lnSpc>
            </a:pP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OPORTUNIDADES de IRPJ/CSLL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8219E2DF-F87D-E8E6-EEED-D96BB6D1C416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8D610C29-D672-B6AC-FE68-CF007BA7823F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FD83AB6D-5019-AD26-02AE-B6494FEBC1D3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99EBB7F3-9B3E-D10D-CF3B-F8FCF4EE7129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428BD994-14A9-0247-C850-1AE4660DF434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6654E491-CB83-FD65-9D5C-5A5F3C8D10DB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FEE497E1-D85B-0EF7-C318-35A660C435D2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231BA3E0-084F-07F0-769B-A181C35554AC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E5BC1154-DEF5-4EC6-0C1A-DA81EC9F8CCF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378DEC9B-647A-16F9-A1EE-A75728A0424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ED5CDE73-1E9C-BA39-F6F5-0F98DF2E7048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CCAF604D-BD3D-1CB4-8B5D-6C1BE1FD564D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3E4475F5-8577-4C0B-2B84-D447299AE760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65C0F3E1-915E-0145-3B89-1E3F01C4FB62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80BFE6EF-935A-2A2B-4E1D-32246D29C09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D776F291-1FB0-D550-C802-B210B61AEC92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FFC3A167-05C6-23E3-0DDC-209CED3D745E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B8D38AF8-845D-D431-AA3A-1708FA570DAF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AE09AA38-EEE2-0C69-39C4-ACE27FC48EC6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3C47EE5B-493F-3192-0E14-88FE84B4CC03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516FBA7C-7F2B-B31B-600A-1CE7B7EE1144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ABB19517-2EC3-8450-5C03-DFD5E461680F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219F3ABC-AC31-58E0-45E3-F5EB8FA423E5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844D1948-2031-551F-C077-E7764073F6E3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3B89A25C-57C1-9937-653F-44457A6CCFC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62D7390F-74B4-725B-C2FA-C93CFC550954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7CB02C1F-1D5A-0E9F-7D5F-3DC46B045439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4F48F2F1-7D3D-0B03-5D9D-8E17CAE2F174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F38FA220-18D4-BCE8-9051-D7DCB7505295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34F3F5CF-F5E2-4574-A07B-C6E09503E47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A99E949B-EAD5-2FEB-EE41-434CD5AA2E89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E25EF19B-8E01-D0CA-D2ED-D1527051F424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7B82F229-FA97-E032-6BF2-2F2AB883B635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77934570-2CC5-C6CC-6899-E9C8D01DC43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AFC1C1A4-D560-BB44-0CF9-E7E8B34550F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35D5530F-F01C-D00A-CCE1-6825B4FB026C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C36AF81D-1DC5-533D-C796-85DA55E8BA54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C70F5C74-3F4E-BD98-846D-7B7CB99E1D20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209BDFDA-B7A5-3793-1812-3FD85DB3B9C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BBEEC90C-C0BE-3871-7FC6-931EC979ACA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73F2CDE4-2E03-E7A2-1DB4-89C232B66AF0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3890106F-11EE-1598-7387-88B1E9B67975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DB5FBF4E-6545-AE1F-6C8F-85FB2AB4E825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4206E91E-8A13-3C49-3DA8-83126BB5E77A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973D4D06-2B90-D150-1710-B80FABBA8D9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4"/>
                  </a:lnSpc>
                </a:pPr>
                <a:endParaRPr/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832AD9B7-540C-6E93-9538-441F3D6CFCB5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29"/>
                </a:lnSpc>
              </a:pPr>
              <a:r>
                <a:rPr lang="en-US" sz="971" spc="266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807C2781-96A3-7045-072F-486FADECB5D7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33D9F180-0678-B810-B2D1-10C0FAB01F35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B38C355F-84CD-D8C6-1F43-1CCD3011EBF9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1C9A768E-C473-E581-4176-2DDEE8A9A827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AC0C8353-8B53-1938-BC4E-758F16BCEEB4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2753DC0A-1ED4-A2D2-351E-48F9D2D953B7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5A1936EE-3271-3CEC-9B8B-8BDF3E58888B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B3EBD300-3F8A-D7F4-699A-B0E112CBAC8A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292A7913-D3F6-52B2-3CB1-C32380101593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524" b="1">
                <a:solidFill>
                  <a:srgbClr val="FFFFFF">
                    <a:alpha val="53725"/>
                  </a:srgbClr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3763719E-819F-3FA9-4054-2EE52B16BEAF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09DE65E3-341D-E3E9-FA5D-F8D31FCF58BD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ECA6004E-3C10-B0EF-ACB6-BBEE53BDDE92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2F9B7C87-BFC8-EB1B-8242-4EA7A9DF214F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8"/>
              </a:lnSpc>
            </a:pPr>
            <a:r>
              <a:rPr lang="en-US" sz="415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2FAB228A-94E0-8D4D-4924-78D5E358A770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942" b="1">
                <a:solidFill>
                  <a:srgbClr val="BBA17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4F74DE53-7E45-D1FB-0C24-FA4B1671FABD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371F000E-6268-3299-5E3E-04EE26E66604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F5756D7D-4DAF-EB91-0E4D-1F4444F181F9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ADDEC467-9F37-6D61-F5D8-829AA70AB740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867BB3D5-9DDC-164B-7AB9-627415452705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837BE1E4-5E94-5A96-B92A-96B90DE003D6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F245F05D-3530-03CE-6BC9-617BFD083A7F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1FB53ED8-9871-6A6A-E1CC-7AFF10F784A3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F193B463-77AE-52DD-6902-BA0497F72E36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D7CC139E-4318-280B-BE3E-8766A0E59924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7005853E-83DA-4730-1112-E4B3EB6C3C4B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lang="en-US" sz="1552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608157F3-53A4-2D4A-164F-1D5B7C87ACE8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C80D0A69-4A9D-721E-56C4-85CF937F7DBB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93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0497D22D-CBF8-36D3-1BE0-CF111B7D96AB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4013" b="1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44F609B0-01C1-646D-747C-415B5CB24560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ECD0F34F-C2DF-DD6F-EFCE-2DDDC863CE80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58A48EAC-C4D5-358B-A828-3C0F08F3C28C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E63C41A4-FACA-6EE1-1173-0B5A19A6BAAD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46FEB640-F72D-120E-3C2B-3E537615547B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7F2C80F8-2534-448B-5CE7-6B28681D2426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659E37C5-D89B-8456-E1C3-F1FB242B9256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7" name="FintaxIRPJ">
            <a:extLst>
              <a:ext uri="{FF2B5EF4-FFF2-40B4-BE49-F238E27FC236}">
                <a16:creationId xmlns:a16="http://schemas.microsoft.com/office/drawing/2014/main" id="{E326E569-6682-0324-D735-EB18F91BA3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107" y="2784257"/>
            <a:ext cx="16710585" cy="504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67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D4A7D-5FC4-DD2D-44BD-821884A6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F2CF89-B523-4B6D-CDCF-9831893706D9}"/>
              </a:ext>
            </a:extLst>
          </p:cNvPr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25D1556-6836-8CC4-4761-C9B059782F32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C7030FA-7891-7E1D-78DA-5F27A555BD3B}"/>
              </a:ext>
            </a:extLst>
          </p:cNvPr>
          <p:cNvSpPr txBox="1"/>
          <p:nvPr/>
        </p:nvSpPr>
        <p:spPr>
          <a:xfrm>
            <a:off x="5813452" y="3867506"/>
            <a:ext cx="6661095" cy="2599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7"/>
              </a:lnSpc>
            </a:pPr>
            <a:r>
              <a:rPr lang="en-US" sz="9542" spc="-53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JORNADA </a:t>
            </a:r>
          </a:p>
          <a:p>
            <a:pPr algn="ctr">
              <a:lnSpc>
                <a:spcPts val="9447"/>
              </a:lnSpc>
            </a:pPr>
            <a:r>
              <a:rPr lang="en-US" sz="9542" b="1" spc="-534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 CRÉDITO</a:t>
            </a:r>
          </a:p>
        </p:txBody>
      </p:sp>
    </p:spTree>
    <p:extLst>
      <p:ext uri="{BB962C8B-B14F-4D97-AF65-F5344CB8AC3E}">
        <p14:creationId xmlns:p14="http://schemas.microsoft.com/office/powerpoint/2010/main" val="244929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2"/>
          <p:cNvGrpSpPr/>
          <p:nvPr/>
        </p:nvGrpSpPr>
        <p:grpSpPr>
          <a:xfrm>
            <a:off x="12880135" y="6378267"/>
            <a:ext cx="2337381" cy="345159"/>
            <a:chOff x="0" y="0"/>
            <a:chExt cx="387675" cy="79515"/>
          </a:xfrm>
        </p:grpSpPr>
        <p:sp>
          <p:nvSpPr>
            <p:cNvPr id="35" name="Freeform 33"/>
            <p:cNvSpPr/>
            <p:nvPr/>
          </p:nvSpPr>
          <p:spPr>
            <a:xfrm>
              <a:off x="0" y="0"/>
              <a:ext cx="387675" cy="79515"/>
            </a:xfrm>
            <a:custGeom>
              <a:avLst/>
              <a:gdLst/>
              <a:ahLst/>
              <a:cxnLst/>
              <a:rect l="l" t="t" r="r" b="b"/>
              <a:pathLst>
                <a:path w="387675" h="79515">
                  <a:moveTo>
                    <a:pt x="0" y="0"/>
                  </a:moveTo>
                  <a:lnTo>
                    <a:pt x="387675" y="0"/>
                  </a:lnTo>
                  <a:lnTo>
                    <a:pt x="387675" y="79515"/>
                  </a:lnTo>
                  <a:lnTo>
                    <a:pt x="0" y="79515"/>
                  </a:ln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7D6A4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4"/>
            <p:cNvSpPr txBox="1"/>
            <p:nvPr/>
          </p:nvSpPr>
          <p:spPr>
            <a:xfrm>
              <a:off x="0" y="-57150"/>
              <a:ext cx="387675" cy="136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10636208" y="-6819900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-230827" y="5620740"/>
            <a:ext cx="18290228" cy="80476"/>
          </a:xfrm>
          <a:prstGeom prst="line">
            <a:avLst/>
          </a:prstGeom>
          <a:ln w="38100" cap="flat">
            <a:solidFill>
              <a:srgbClr val="BBA17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" name="Group 5"/>
          <p:cNvGrpSpPr/>
          <p:nvPr/>
        </p:nvGrpSpPr>
        <p:grpSpPr>
          <a:xfrm>
            <a:off x="4359394" y="5326015"/>
            <a:ext cx="653564" cy="6535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4063114" y="5064920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13722045" y="5335166"/>
            <a:ext cx="653564" cy="65356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9343303" y="5293958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9015620" y="5293958"/>
            <a:ext cx="653564" cy="65356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H="1" flipV="1">
            <a:off x="4700587" y="5011198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Freeform 17"/>
          <p:cNvSpPr/>
          <p:nvPr/>
        </p:nvSpPr>
        <p:spPr>
          <a:xfrm>
            <a:off x="4461569" y="5468528"/>
            <a:ext cx="392063" cy="368539"/>
          </a:xfrm>
          <a:custGeom>
            <a:avLst/>
            <a:gdLst/>
            <a:ahLst/>
            <a:cxnLst/>
            <a:rect l="l" t="t" r="r" b="b"/>
            <a:pathLst>
              <a:path w="392063" h="368539">
                <a:moveTo>
                  <a:pt x="0" y="0"/>
                </a:moveTo>
                <a:lnTo>
                  <a:pt x="392063" y="0"/>
                </a:lnTo>
                <a:lnTo>
                  <a:pt x="392063" y="368539"/>
                </a:lnTo>
                <a:lnTo>
                  <a:pt x="0" y="36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55372" y="5433710"/>
            <a:ext cx="374060" cy="374060"/>
          </a:xfrm>
          <a:custGeom>
            <a:avLst/>
            <a:gdLst/>
            <a:ahLst/>
            <a:cxnLst/>
            <a:rect l="l" t="t" r="r" b="b"/>
            <a:pathLst>
              <a:path w="374060" h="374060">
                <a:moveTo>
                  <a:pt x="0" y="0"/>
                </a:moveTo>
                <a:lnTo>
                  <a:pt x="374061" y="0"/>
                </a:lnTo>
                <a:lnTo>
                  <a:pt x="374061" y="374060"/>
                </a:lnTo>
                <a:lnTo>
                  <a:pt x="0" y="374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835065" y="5461813"/>
            <a:ext cx="427524" cy="400269"/>
          </a:xfrm>
          <a:custGeom>
            <a:avLst/>
            <a:gdLst/>
            <a:ahLst/>
            <a:cxnLst/>
            <a:rect l="l" t="t" r="r" b="b"/>
            <a:pathLst>
              <a:path w="427524" h="400269">
                <a:moveTo>
                  <a:pt x="0" y="0"/>
                </a:moveTo>
                <a:lnTo>
                  <a:pt x="427524" y="0"/>
                </a:lnTo>
                <a:lnTo>
                  <a:pt x="427524" y="400269"/>
                </a:lnTo>
                <a:lnTo>
                  <a:pt x="0" y="400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669666" y="1431407"/>
            <a:ext cx="971953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LINHA DO TEMPO</a:t>
            </a: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COMPENSAÇÃO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29913" y="6175047"/>
            <a:ext cx="4341733" cy="89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3"/>
              </a:lnSpc>
            </a:pP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Conclusão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</a:t>
            </a:r>
            <a:r>
              <a:rPr lang="en-US" sz="2058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058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retificação</a:t>
            </a:r>
            <a:r>
              <a:rPr lang="en-US" sz="2058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dos </a:t>
            </a:r>
            <a:r>
              <a:rPr lang="en-US" sz="2058" b="1" dirty="0" err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pontos</a:t>
            </a:r>
            <a:r>
              <a:rPr lang="en-US" sz="2058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possibilidade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utilização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para </a:t>
            </a:r>
            <a:r>
              <a:rPr lang="en-US" sz="2058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pagamento</a:t>
            </a:r>
            <a:r>
              <a:rPr lang="en-US" sz="2058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 DARF.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12685" y="4369501"/>
            <a:ext cx="3746982" cy="582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</a:pPr>
            <a:r>
              <a:rPr lang="en-US" sz="3713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COMPENSAÇÃO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99151" y="3783483"/>
            <a:ext cx="3764737" cy="128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8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TEMPO MÉDIO DE </a:t>
            </a:r>
            <a:r>
              <a:rPr lang="en-US" sz="3286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UTILIZAÇÃO </a:t>
            </a:r>
            <a:r>
              <a:rPr lang="en-US" sz="328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DO BENEFÍCIO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0309" y="8964553"/>
            <a:ext cx="6434257" cy="29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  <a:spcBef>
                <a:spcPct val="0"/>
              </a:spcBef>
            </a:pP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*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Valores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considerados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conforme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média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dos DARF dos </a:t>
            </a:r>
            <a:r>
              <a:rPr lang="en-US" sz="156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últimos</a:t>
            </a:r>
            <a:r>
              <a:rPr lang="en-US" sz="156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meses</a:t>
            </a:r>
          </a:p>
        </p:txBody>
      </p:sp>
      <p:sp>
        <p:nvSpPr>
          <p:cNvPr id="32" name="CaixaValores"/>
          <p:cNvSpPr txBox="1"/>
          <p:nvPr/>
        </p:nvSpPr>
        <p:spPr>
          <a:xfrm>
            <a:off x="7457916" y="6258986"/>
            <a:ext cx="4322354" cy="468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</a:pPr>
            <a:endParaRPr lang="en-US" sz="2500" b="1" dirty="0">
              <a:solidFill>
                <a:srgbClr val="FFFFFF"/>
              </a:solidFill>
              <a:latin typeface="Codec Pro"/>
              <a:ea typeface="Codec Pro Bold"/>
              <a:cs typeface="Codec Pro Bold"/>
              <a:sym typeface="Codec Pro"/>
            </a:endParaRPr>
          </a:p>
        </p:txBody>
      </p:sp>
      <p:sp>
        <p:nvSpPr>
          <p:cNvPr id="33" name="UTILIZAÇÃOFINTAX"/>
          <p:cNvSpPr txBox="1"/>
          <p:nvPr/>
        </p:nvSpPr>
        <p:spPr>
          <a:xfrm>
            <a:off x="13218372" y="6416894"/>
            <a:ext cx="1740190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6"/>
              </a:lnSpc>
            </a:pPr>
            <a:r>
              <a:rPr lang="en-US" sz="206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0 meses</a:t>
            </a:r>
            <a:endParaRPr lang="en-US" sz="2060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C2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-230828" y="5620740"/>
            <a:ext cx="19032507" cy="0"/>
          </a:xfrm>
          <a:prstGeom prst="line">
            <a:avLst/>
          </a:prstGeom>
          <a:ln w="38100" cap="flat">
            <a:solidFill>
              <a:srgbClr val="BBA17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" name="Group 5"/>
          <p:cNvGrpSpPr/>
          <p:nvPr/>
        </p:nvGrpSpPr>
        <p:grpSpPr>
          <a:xfrm>
            <a:off x="6120879" y="5180176"/>
            <a:ext cx="653564" cy="6535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1811000" y="5006036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11471286" y="5328403"/>
            <a:ext cx="653564" cy="65356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A17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790" tIns="46790" rIns="46790" bIns="4679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6462073" y="4865358"/>
            <a:ext cx="0" cy="914659"/>
          </a:xfrm>
          <a:prstGeom prst="line">
            <a:avLst/>
          </a:prstGeom>
          <a:ln w="28575" cap="flat">
            <a:solidFill>
              <a:srgbClr val="BBA176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5063268" y="1428903"/>
            <a:ext cx="893233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4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LINHA DO TEMPO</a:t>
            </a:r>
            <a:r>
              <a:rPr lang="en-US" sz="4500" b="1" dirty="0">
                <a:solidFill>
                  <a:srgbClr val="DEBF8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RESTITUIÇÃO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0567" y="3921151"/>
            <a:ext cx="4197255" cy="80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3394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Transmissão</a:t>
            </a:r>
            <a:r>
              <a:rPr lang="en-US" sz="339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das </a:t>
            </a:r>
            <a:r>
              <a:rPr lang="en-US" sz="3394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retificações</a:t>
            </a:r>
            <a:r>
              <a:rPr lang="en-US" sz="339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657170" y="3911264"/>
            <a:ext cx="4281797" cy="706357"/>
            <a:chOff x="0" y="0"/>
            <a:chExt cx="482006" cy="795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2006" cy="79515"/>
            </a:xfrm>
            <a:custGeom>
              <a:avLst/>
              <a:gdLst/>
              <a:ahLst/>
              <a:cxnLst/>
              <a:rect l="l" t="t" r="r" b="b"/>
              <a:pathLst>
                <a:path w="482006" h="79515">
                  <a:moveTo>
                    <a:pt x="0" y="0"/>
                  </a:moveTo>
                  <a:lnTo>
                    <a:pt x="482006" y="0"/>
                  </a:lnTo>
                  <a:lnTo>
                    <a:pt x="482006" y="79515"/>
                  </a:lnTo>
                  <a:lnTo>
                    <a:pt x="0" y="79515"/>
                  </a:ln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7D6A4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482006" cy="136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4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679218" y="3976871"/>
            <a:ext cx="4172581" cy="6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4256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Média</a:t>
            </a:r>
            <a:r>
              <a:rPr lang="en-US" sz="425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8 meses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57170" y="6138330"/>
            <a:ext cx="4281797" cy="123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339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Prazo médio para </a:t>
            </a:r>
            <a:r>
              <a:rPr lang="en-US" sz="3394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recebimento</a:t>
            </a:r>
          </a:p>
          <a:p>
            <a:pPr algn="ctr">
              <a:lnSpc>
                <a:spcPts val="3055"/>
              </a:lnSpc>
            </a:pPr>
            <a:r>
              <a:rPr lang="en-US" sz="339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em conta corrente.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17E61-5587-2B73-56C0-33C4CABB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DF1161-D111-1D40-B33B-64D6EFD08E91}"/>
              </a:ext>
            </a:extLst>
          </p:cNvPr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FAD064-BD95-5DE3-49E4-65A99F43D1D5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0F374D2-7969-CEEC-633E-F18D25110A77}"/>
              </a:ext>
            </a:extLst>
          </p:cNvPr>
          <p:cNvGrpSpPr/>
          <p:nvPr/>
        </p:nvGrpSpPr>
        <p:grpSpPr>
          <a:xfrm>
            <a:off x="8663332" y="0"/>
            <a:ext cx="10489300" cy="10287000"/>
            <a:chOff x="0" y="0"/>
            <a:chExt cx="2762614" cy="2709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2D129B-9051-2B51-AB93-5ADBD4E169DB}"/>
                </a:ext>
              </a:extLst>
            </p:cNvPr>
            <p:cNvSpPr/>
            <p:nvPr/>
          </p:nvSpPr>
          <p:spPr>
            <a:xfrm>
              <a:off x="0" y="0"/>
              <a:ext cx="2762614" cy="2709333"/>
            </a:xfrm>
            <a:custGeom>
              <a:avLst/>
              <a:gdLst/>
              <a:ahLst/>
              <a:cxnLst/>
              <a:rect l="l" t="t" r="r" b="b"/>
              <a:pathLst>
                <a:path w="2762614" h="2709333">
                  <a:moveTo>
                    <a:pt x="49451" y="0"/>
                  </a:moveTo>
                  <a:lnTo>
                    <a:pt x="2713163" y="0"/>
                  </a:lnTo>
                  <a:cubicBezTo>
                    <a:pt x="2740474" y="0"/>
                    <a:pt x="2762614" y="22140"/>
                    <a:pt x="2762614" y="49451"/>
                  </a:cubicBezTo>
                  <a:lnTo>
                    <a:pt x="2762614" y="2659882"/>
                  </a:lnTo>
                  <a:cubicBezTo>
                    <a:pt x="2762614" y="2672997"/>
                    <a:pt x="2757404" y="2685575"/>
                    <a:pt x="2748130" y="2694849"/>
                  </a:cubicBezTo>
                  <a:cubicBezTo>
                    <a:pt x="2738856" y="2704123"/>
                    <a:pt x="2726278" y="2709333"/>
                    <a:pt x="2713163" y="2709333"/>
                  </a:cubicBezTo>
                  <a:lnTo>
                    <a:pt x="49451" y="2709333"/>
                  </a:lnTo>
                  <a:cubicBezTo>
                    <a:pt x="36336" y="2709333"/>
                    <a:pt x="23758" y="2704123"/>
                    <a:pt x="14484" y="2694849"/>
                  </a:cubicBezTo>
                  <a:cubicBezTo>
                    <a:pt x="5210" y="2685575"/>
                    <a:pt x="0" y="2672997"/>
                    <a:pt x="0" y="2659882"/>
                  </a:cubicBezTo>
                  <a:lnTo>
                    <a:pt x="0" y="49451"/>
                  </a:lnTo>
                  <a:cubicBezTo>
                    <a:pt x="0" y="36336"/>
                    <a:pt x="5210" y="23758"/>
                    <a:pt x="14484" y="14484"/>
                  </a:cubicBezTo>
                  <a:cubicBezTo>
                    <a:pt x="23758" y="5210"/>
                    <a:pt x="36336" y="0"/>
                    <a:pt x="49451" y="0"/>
                  </a:cubicBezTo>
                  <a:close/>
                </a:path>
              </a:pathLst>
            </a:custGeom>
            <a:solidFill>
              <a:srgbClr val="897149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1B63CBB-59D9-F1F6-8693-66FB099EE283}"/>
                </a:ext>
              </a:extLst>
            </p:cNvPr>
            <p:cNvSpPr txBox="1"/>
            <p:nvPr/>
          </p:nvSpPr>
          <p:spPr>
            <a:xfrm>
              <a:off x="0" y="-57150"/>
              <a:ext cx="276261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29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7798288-C032-5D24-E9DA-489701034AE8}"/>
              </a:ext>
            </a:extLst>
          </p:cNvPr>
          <p:cNvSpPr txBox="1"/>
          <p:nvPr/>
        </p:nvSpPr>
        <p:spPr>
          <a:xfrm>
            <a:off x="894478" y="4377951"/>
            <a:ext cx="6048497" cy="1835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1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Análise</a:t>
            </a:r>
            <a:endParaRPr kumimoji="0" lang="en-US" sz="531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Codec Pro"/>
              <a:cs typeface="Codec Pro"/>
              <a:sym typeface="Codec Pro"/>
            </a:endParaRPr>
          </a:p>
          <a:p>
            <a:pPr marL="0" marR="0" lvl="0" indent="0" algn="l" defTabSz="914400" rtl="0" eaLnBrk="1" fontAlgn="auto" latinLnBrk="0" hangingPunct="1">
              <a:lnSpc>
                <a:spcPts val="4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19" b="1" i="0" u="none" strike="noStrike" kern="1200" cap="none" spc="0" normalizeH="0" baseline="0" noProof="0" dirty="0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ORIENTAÇÃO JUDICIAL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11DFED-9DF7-CBC0-1DDD-6FC9CCB47661}"/>
              </a:ext>
            </a:extLst>
          </p:cNvPr>
          <p:cNvSpPr/>
          <p:nvPr/>
        </p:nvSpPr>
        <p:spPr>
          <a:xfrm>
            <a:off x="10905720" y="-6464614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DFC0F2-A0C6-B146-74C7-38FD4CFDAE09}"/>
              </a:ext>
            </a:extLst>
          </p:cNvPr>
          <p:cNvSpPr txBox="1"/>
          <p:nvPr/>
        </p:nvSpPr>
        <p:spPr>
          <a:xfrm>
            <a:off x="9401175" y="3409379"/>
            <a:ext cx="7420673" cy="347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Esta análise tem como objetivo identificar </a:t>
            </a:r>
            <a:r>
              <a:rPr kumimoji="0" lang="pt-BR" sz="37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oportunidades de redução do custo financeiro</a:t>
            </a:r>
            <a:r>
              <a:rPr kumimoji="0" lang="pt-BR" sz="3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da empresa, mediante a adoção de medidas judiciais que possibilitem a obtenção de economia tributária.</a:t>
            </a:r>
            <a:endParaRPr kumimoji="0" lang="en-US" sz="3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6D4DCBB-B6BA-17FF-1E52-0A00C8BABC46}"/>
              </a:ext>
            </a:extLst>
          </p:cNvPr>
          <p:cNvSpPr/>
          <p:nvPr/>
        </p:nvSpPr>
        <p:spPr>
          <a:xfrm>
            <a:off x="0" y="6444327"/>
            <a:ext cx="4700587" cy="5129609"/>
          </a:xfrm>
          <a:custGeom>
            <a:avLst/>
            <a:gdLst/>
            <a:ahLst/>
            <a:cxnLst/>
            <a:rect l="l" t="t" r="r" b="b"/>
            <a:pathLst>
              <a:path w="4700587" h="5129609">
                <a:moveTo>
                  <a:pt x="0" y="0"/>
                </a:moveTo>
                <a:lnTo>
                  <a:pt x="4700588" y="0"/>
                </a:lnTo>
                <a:lnTo>
                  <a:pt x="4700588" y="5129609"/>
                </a:lnTo>
                <a:lnTo>
                  <a:pt x="0" y="51296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41371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4C17E-A384-B059-5672-9B3546FE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988337-D2C1-2A66-3DF6-307110AF1F64}"/>
              </a:ext>
            </a:extLst>
          </p:cNvPr>
          <p:cNvSpPr/>
          <p:nvPr/>
        </p:nvSpPr>
        <p:spPr>
          <a:xfrm>
            <a:off x="10332077" y="-5418008"/>
            <a:ext cx="13180062" cy="13180062"/>
          </a:xfrm>
          <a:custGeom>
            <a:avLst/>
            <a:gdLst/>
            <a:ahLst/>
            <a:cxnLst/>
            <a:rect l="l" t="t" r="r" b="b"/>
            <a:pathLst>
              <a:path w="13180062" h="13180062">
                <a:moveTo>
                  <a:pt x="0" y="0"/>
                </a:moveTo>
                <a:lnTo>
                  <a:pt x="13180062" y="0"/>
                </a:lnTo>
                <a:lnTo>
                  <a:pt x="13180062" y="13180062"/>
                </a:lnTo>
                <a:lnTo>
                  <a:pt x="0" y="1318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8C348DE-1D24-C7EC-64E7-FED9BA659F1C}"/>
              </a:ext>
            </a:extLst>
          </p:cNvPr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A70577-F73C-1544-A63C-F5F34339BC4C}"/>
              </a:ext>
            </a:extLst>
          </p:cNvPr>
          <p:cNvSpPr txBox="1"/>
          <p:nvPr/>
        </p:nvSpPr>
        <p:spPr>
          <a:xfrm>
            <a:off x="3200400" y="392930"/>
            <a:ext cx="1199735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Quadro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kumimoji="0" 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resumido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 de </a:t>
            </a:r>
          </a:p>
          <a:p>
            <a:pPr marL="0" marR="0" lvl="0" indent="0" algn="ctr" defTabSz="914400" rtl="0" eaLnBrk="1" fontAlgn="auto" latinLnBrk="0" hangingPunct="1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OPORTUNIDADES de IRPJ/CSLL –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Economia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Tributária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|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Orientação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DEBF8B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 Judicial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8219E2DF-F87D-E8E6-EEED-D96BB6D1C416}"/>
              </a:ext>
            </a:extLst>
          </p:cNvPr>
          <p:cNvSpPr/>
          <p:nvPr/>
        </p:nvSpPr>
        <p:spPr>
          <a:xfrm>
            <a:off x="593022" y="1977906"/>
            <a:ext cx="17168757" cy="7737594"/>
          </a:xfrm>
          <a:prstGeom prst="roundRect">
            <a:avLst>
              <a:gd name="adj" fmla="val 8262"/>
            </a:avLst>
          </a:prstGeom>
          <a:solidFill>
            <a:schemeClr val="bg1"/>
          </a:solidFill>
          <a:ln w="38100">
            <a:solidFill>
              <a:srgbClr val="89714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AutoShape 4">
            <a:extLst>
              <a:ext uri="{FF2B5EF4-FFF2-40B4-BE49-F238E27FC236}">
                <a16:creationId xmlns:a16="http://schemas.microsoft.com/office/drawing/2014/main" id="{8D610C29-D672-B6AC-FE68-CF007BA7823F}"/>
              </a:ext>
            </a:extLst>
          </p:cNvPr>
          <p:cNvSpPr/>
          <p:nvPr/>
        </p:nvSpPr>
        <p:spPr>
          <a:xfrm flipV="1">
            <a:off x="10522277" y="12240589"/>
            <a:ext cx="0" cy="508801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FD83AB6D-5019-AD26-02AE-B6494FEBC1D3}"/>
              </a:ext>
            </a:extLst>
          </p:cNvPr>
          <p:cNvSpPr/>
          <p:nvPr/>
        </p:nvSpPr>
        <p:spPr>
          <a:xfrm flipH="1">
            <a:off x="6065500" y="15271999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6">
            <a:extLst>
              <a:ext uri="{FF2B5EF4-FFF2-40B4-BE49-F238E27FC236}">
                <a16:creationId xmlns:a16="http://schemas.microsoft.com/office/drawing/2014/main" id="{99EBB7F3-9B3E-D10D-CF3B-F8FCF4EE7129}"/>
              </a:ext>
            </a:extLst>
          </p:cNvPr>
          <p:cNvSpPr/>
          <p:nvPr/>
        </p:nvSpPr>
        <p:spPr>
          <a:xfrm flipH="1">
            <a:off x="6065476" y="16611736"/>
            <a:ext cx="13767271" cy="33902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7">
            <a:extLst>
              <a:ext uri="{FF2B5EF4-FFF2-40B4-BE49-F238E27FC236}">
                <a16:creationId xmlns:a16="http://schemas.microsoft.com/office/drawing/2014/main" id="{428BD994-14A9-0247-C850-1AE4660DF434}"/>
              </a:ext>
            </a:extLst>
          </p:cNvPr>
          <p:cNvSpPr/>
          <p:nvPr/>
        </p:nvSpPr>
        <p:spPr>
          <a:xfrm flipV="1">
            <a:off x="14480408" y="12121969"/>
            <a:ext cx="0" cy="5206631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6654E491-CB83-FD65-9D5C-5A5F3C8D10DB}"/>
              </a:ext>
            </a:extLst>
          </p:cNvPr>
          <p:cNvSpPr/>
          <p:nvPr/>
        </p:nvSpPr>
        <p:spPr>
          <a:xfrm flipH="1">
            <a:off x="9858406" y="12466393"/>
            <a:ext cx="9974316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9">
            <a:extLst>
              <a:ext uri="{FF2B5EF4-FFF2-40B4-BE49-F238E27FC236}">
                <a16:creationId xmlns:a16="http://schemas.microsoft.com/office/drawing/2014/main" id="{FEE497E1-D85B-0EF7-C318-35A660C435D2}"/>
              </a:ext>
            </a:extLst>
          </p:cNvPr>
          <p:cNvGrpSpPr/>
          <p:nvPr/>
        </p:nvGrpSpPr>
        <p:grpSpPr>
          <a:xfrm>
            <a:off x="16610024" y="12629878"/>
            <a:ext cx="1677976" cy="224840"/>
            <a:chOff x="0" y="0"/>
            <a:chExt cx="2237301" cy="299787"/>
          </a:xfrm>
        </p:grpSpPr>
        <p:grpSp>
          <p:nvGrpSpPr>
            <p:cNvPr id="85" name="Group 10">
              <a:extLst>
                <a:ext uri="{FF2B5EF4-FFF2-40B4-BE49-F238E27FC236}">
                  <a16:creationId xmlns:a16="http://schemas.microsoft.com/office/drawing/2014/main" id="{231BA3E0-084F-07F0-769B-A181C35554AC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E5BC1154-DEF5-4EC6-0C1A-DA81EC9F8CCF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8" name="TextBox 12">
                <a:extLst>
                  <a:ext uri="{FF2B5EF4-FFF2-40B4-BE49-F238E27FC236}">
                    <a16:creationId xmlns:a16="http://schemas.microsoft.com/office/drawing/2014/main" id="{378DEC9B-647A-16F9-A1EE-A75728A0424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6" name="TextBox 13">
              <a:extLst>
                <a:ext uri="{FF2B5EF4-FFF2-40B4-BE49-F238E27FC236}">
                  <a16:creationId xmlns:a16="http://schemas.microsoft.com/office/drawing/2014/main" id="{ED5CDE73-1E9C-BA39-F6F5-0F98DF2E7048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89" name="Group 14">
            <a:extLst>
              <a:ext uri="{FF2B5EF4-FFF2-40B4-BE49-F238E27FC236}">
                <a16:creationId xmlns:a16="http://schemas.microsoft.com/office/drawing/2014/main" id="{CCAF604D-BD3D-1CB4-8B5D-6C1BE1FD564D}"/>
              </a:ext>
            </a:extLst>
          </p:cNvPr>
          <p:cNvGrpSpPr/>
          <p:nvPr/>
        </p:nvGrpSpPr>
        <p:grpSpPr>
          <a:xfrm>
            <a:off x="16610024" y="12915900"/>
            <a:ext cx="1677976" cy="234687"/>
            <a:chOff x="0" y="0"/>
            <a:chExt cx="2237301" cy="312916"/>
          </a:xfrm>
        </p:grpSpPr>
        <p:grpSp>
          <p:nvGrpSpPr>
            <p:cNvPr id="90" name="Group 15">
              <a:extLst>
                <a:ext uri="{FF2B5EF4-FFF2-40B4-BE49-F238E27FC236}">
                  <a16:creationId xmlns:a16="http://schemas.microsoft.com/office/drawing/2014/main" id="{3E4475F5-8577-4C0B-2B84-D447299AE760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65C0F3E1-915E-0145-3B89-1E3F01C4FB62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3" name="TextBox 17">
                <a:extLst>
                  <a:ext uri="{FF2B5EF4-FFF2-40B4-BE49-F238E27FC236}">
                    <a16:creationId xmlns:a16="http://schemas.microsoft.com/office/drawing/2014/main" id="{80BFE6EF-935A-2A2B-4E1D-32246D29C09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1" name="TextBox 18">
              <a:extLst>
                <a:ext uri="{FF2B5EF4-FFF2-40B4-BE49-F238E27FC236}">
                  <a16:creationId xmlns:a16="http://schemas.microsoft.com/office/drawing/2014/main" id="{D776F291-1FB0-D550-C802-B210B61AEC92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FFC3A167-05C6-23E3-0DDC-209CED3D745E}"/>
              </a:ext>
            </a:extLst>
          </p:cNvPr>
          <p:cNvGrpSpPr/>
          <p:nvPr/>
        </p:nvGrpSpPr>
        <p:grpSpPr>
          <a:xfrm>
            <a:off x="16610024" y="13189562"/>
            <a:ext cx="1677976" cy="227210"/>
            <a:chOff x="0" y="0"/>
            <a:chExt cx="2237301" cy="302946"/>
          </a:xfrm>
        </p:grpSpPr>
        <p:grpSp>
          <p:nvGrpSpPr>
            <p:cNvPr id="95" name="Group 20">
              <a:extLst>
                <a:ext uri="{FF2B5EF4-FFF2-40B4-BE49-F238E27FC236}">
                  <a16:creationId xmlns:a16="http://schemas.microsoft.com/office/drawing/2014/main" id="{B8D38AF8-845D-D431-AA3A-1708FA570DAF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AE09AA38-EEE2-0C69-39C4-ACE27FC48EC6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8" name="TextBox 22">
                <a:extLst>
                  <a:ext uri="{FF2B5EF4-FFF2-40B4-BE49-F238E27FC236}">
                    <a16:creationId xmlns:a16="http://schemas.microsoft.com/office/drawing/2014/main" id="{3C47EE5B-493F-3192-0E14-88FE84B4CC03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6" name="TextBox 23">
              <a:extLst>
                <a:ext uri="{FF2B5EF4-FFF2-40B4-BE49-F238E27FC236}">
                  <a16:creationId xmlns:a16="http://schemas.microsoft.com/office/drawing/2014/main" id="{516FBA7C-7F2B-B31B-600A-1CE7B7EE1144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99" name="Group 24">
            <a:extLst>
              <a:ext uri="{FF2B5EF4-FFF2-40B4-BE49-F238E27FC236}">
                <a16:creationId xmlns:a16="http://schemas.microsoft.com/office/drawing/2014/main" id="{ABB19517-2EC3-8450-5C03-DFD5E461680F}"/>
              </a:ext>
            </a:extLst>
          </p:cNvPr>
          <p:cNvGrpSpPr/>
          <p:nvPr/>
        </p:nvGrpSpPr>
        <p:grpSpPr>
          <a:xfrm>
            <a:off x="16631488" y="14043463"/>
            <a:ext cx="1677976" cy="224840"/>
            <a:chOff x="0" y="0"/>
            <a:chExt cx="2237301" cy="299787"/>
          </a:xfrm>
        </p:grpSpPr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219F3ABC-AC31-58E0-45E3-F5EB8FA423E5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844D1948-2031-551F-C077-E7764073F6E3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3" name="TextBox 27">
                <a:extLst>
                  <a:ext uri="{FF2B5EF4-FFF2-40B4-BE49-F238E27FC236}">
                    <a16:creationId xmlns:a16="http://schemas.microsoft.com/office/drawing/2014/main" id="{3B89A25C-57C1-9937-653F-44457A6CCFC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01" name="TextBox 28">
              <a:extLst>
                <a:ext uri="{FF2B5EF4-FFF2-40B4-BE49-F238E27FC236}">
                  <a16:creationId xmlns:a16="http://schemas.microsoft.com/office/drawing/2014/main" id="{62D7390F-74B4-725B-C2FA-C93CFC550954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04" name="Group 29">
            <a:extLst>
              <a:ext uri="{FF2B5EF4-FFF2-40B4-BE49-F238E27FC236}">
                <a16:creationId xmlns:a16="http://schemas.microsoft.com/office/drawing/2014/main" id="{7CB02C1F-1D5A-0E9F-7D5F-3DC46B045439}"/>
              </a:ext>
            </a:extLst>
          </p:cNvPr>
          <p:cNvGrpSpPr/>
          <p:nvPr/>
        </p:nvGrpSpPr>
        <p:grpSpPr>
          <a:xfrm>
            <a:off x="16631488" y="14329485"/>
            <a:ext cx="1677976" cy="234687"/>
            <a:chOff x="0" y="0"/>
            <a:chExt cx="2237301" cy="312916"/>
          </a:xfrm>
        </p:grpSpPr>
        <p:grpSp>
          <p:nvGrpSpPr>
            <p:cNvPr id="105" name="Group 30">
              <a:extLst>
                <a:ext uri="{FF2B5EF4-FFF2-40B4-BE49-F238E27FC236}">
                  <a16:creationId xmlns:a16="http://schemas.microsoft.com/office/drawing/2014/main" id="{4F48F2F1-7D3D-0B03-5D9D-8E17CAE2F174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F38FA220-18D4-BCE8-9051-D7DCB7505295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08" name="TextBox 32">
                <a:extLst>
                  <a:ext uri="{FF2B5EF4-FFF2-40B4-BE49-F238E27FC236}">
                    <a16:creationId xmlns:a16="http://schemas.microsoft.com/office/drawing/2014/main" id="{34F3F5CF-F5E2-4574-A07B-C6E09503E47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06" name="TextBox 33">
              <a:extLst>
                <a:ext uri="{FF2B5EF4-FFF2-40B4-BE49-F238E27FC236}">
                  <a16:creationId xmlns:a16="http://schemas.microsoft.com/office/drawing/2014/main" id="{A99E949B-EAD5-2FEB-EE41-434CD5AA2E89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E25EF19B-8E01-D0CA-D2ED-D1527051F424}"/>
              </a:ext>
            </a:extLst>
          </p:cNvPr>
          <p:cNvGrpSpPr/>
          <p:nvPr/>
        </p:nvGrpSpPr>
        <p:grpSpPr>
          <a:xfrm>
            <a:off x="16631488" y="14603148"/>
            <a:ext cx="1677976" cy="227210"/>
            <a:chOff x="0" y="0"/>
            <a:chExt cx="2237301" cy="302946"/>
          </a:xfrm>
        </p:grpSpPr>
        <p:grpSp>
          <p:nvGrpSpPr>
            <p:cNvPr id="110" name="Group 35">
              <a:extLst>
                <a:ext uri="{FF2B5EF4-FFF2-40B4-BE49-F238E27FC236}">
                  <a16:creationId xmlns:a16="http://schemas.microsoft.com/office/drawing/2014/main" id="{7B82F229-FA97-E032-6BF2-2F2AB883B635}"/>
                </a:ext>
              </a:extLst>
            </p:cNvPr>
            <p:cNvGrpSpPr/>
            <p:nvPr/>
          </p:nvGrpSpPr>
          <p:grpSpPr>
            <a:xfrm>
              <a:off x="0" y="0"/>
              <a:ext cx="2237301" cy="302946"/>
              <a:chOff x="0" y="0"/>
              <a:chExt cx="463468" cy="62757"/>
            </a:xfrm>
          </p:grpSpPr>
          <p:sp>
            <p:nvSpPr>
              <p:cNvPr id="112" name="Freeform 36">
                <a:extLst>
                  <a:ext uri="{FF2B5EF4-FFF2-40B4-BE49-F238E27FC236}">
                    <a16:creationId xmlns:a16="http://schemas.microsoft.com/office/drawing/2014/main" id="{77934570-2CC5-C6CC-6899-E9C8D01DC430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757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757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757"/>
                    </a:lnTo>
                    <a:lnTo>
                      <a:pt x="0" y="62757"/>
                    </a:lnTo>
                    <a:close/>
                  </a:path>
                </a:pathLst>
              </a:custGeom>
              <a:solidFill>
                <a:srgbClr val="FB2222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3" name="TextBox 37">
                <a:extLst>
                  <a:ext uri="{FF2B5EF4-FFF2-40B4-BE49-F238E27FC236}">
                    <a16:creationId xmlns:a16="http://schemas.microsoft.com/office/drawing/2014/main" id="{AFC1C1A4-D560-BB44-0CF9-E7E8B34550F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9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11" name="TextBox 38">
              <a:extLst>
                <a:ext uri="{FF2B5EF4-FFF2-40B4-BE49-F238E27FC236}">
                  <a16:creationId xmlns:a16="http://schemas.microsoft.com/office/drawing/2014/main" id="{35D5530F-F01C-D00A-CCE1-6825B4FB026C}"/>
                </a:ext>
              </a:extLst>
            </p:cNvPr>
            <p:cNvSpPr txBox="1"/>
            <p:nvPr/>
          </p:nvSpPr>
          <p:spPr>
            <a:xfrm>
              <a:off x="500436" y="50082"/>
              <a:ext cx="1236430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VERMELHO</a:t>
              </a:r>
            </a:p>
          </p:txBody>
        </p:sp>
      </p:grpSp>
      <p:grpSp>
        <p:nvGrpSpPr>
          <p:cNvPr id="114" name="Group 39">
            <a:extLst>
              <a:ext uri="{FF2B5EF4-FFF2-40B4-BE49-F238E27FC236}">
                <a16:creationId xmlns:a16="http://schemas.microsoft.com/office/drawing/2014/main" id="{C36AF81D-1DC5-533D-C796-85DA55E8BA54}"/>
              </a:ext>
            </a:extLst>
          </p:cNvPr>
          <p:cNvGrpSpPr/>
          <p:nvPr/>
        </p:nvGrpSpPr>
        <p:grpSpPr>
          <a:xfrm>
            <a:off x="16652952" y="15426401"/>
            <a:ext cx="1677976" cy="224840"/>
            <a:chOff x="0" y="0"/>
            <a:chExt cx="2237301" cy="299787"/>
          </a:xfrm>
        </p:grpSpPr>
        <p:grpSp>
          <p:nvGrpSpPr>
            <p:cNvPr id="115" name="Group 40">
              <a:extLst>
                <a:ext uri="{FF2B5EF4-FFF2-40B4-BE49-F238E27FC236}">
                  <a16:creationId xmlns:a16="http://schemas.microsoft.com/office/drawing/2014/main" id="{C70F5C74-3F4E-BD98-846D-7B7CB99E1D20}"/>
                </a:ext>
              </a:extLst>
            </p:cNvPr>
            <p:cNvGrpSpPr/>
            <p:nvPr/>
          </p:nvGrpSpPr>
          <p:grpSpPr>
            <a:xfrm>
              <a:off x="0" y="0"/>
              <a:ext cx="2237301" cy="299787"/>
              <a:chOff x="0" y="0"/>
              <a:chExt cx="463468" cy="62102"/>
            </a:xfrm>
          </p:grpSpPr>
          <p:sp>
            <p:nvSpPr>
              <p:cNvPr id="117" name="Freeform 41">
                <a:extLst>
                  <a:ext uri="{FF2B5EF4-FFF2-40B4-BE49-F238E27FC236}">
                    <a16:creationId xmlns:a16="http://schemas.microsoft.com/office/drawing/2014/main" id="{209BDFDA-B7A5-3793-1812-3FD85DB3B9CD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210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210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2102"/>
                    </a:lnTo>
                    <a:lnTo>
                      <a:pt x="0" y="62102"/>
                    </a:lnTo>
                    <a:close/>
                  </a:path>
                </a:pathLst>
              </a:custGeom>
              <a:solidFill>
                <a:srgbClr val="3AB03A"/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18" name="TextBox 42">
                <a:extLst>
                  <a:ext uri="{FF2B5EF4-FFF2-40B4-BE49-F238E27FC236}">
                    <a16:creationId xmlns:a16="http://schemas.microsoft.com/office/drawing/2014/main" id="{BBEEC90C-C0BE-3871-7FC6-931EC979ACA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192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16" name="TextBox 43">
              <a:extLst>
                <a:ext uri="{FF2B5EF4-FFF2-40B4-BE49-F238E27FC236}">
                  <a16:creationId xmlns:a16="http://schemas.microsoft.com/office/drawing/2014/main" id="{73F2CDE4-2E03-E7A2-1DB4-89C232B66AF0}"/>
                </a:ext>
              </a:extLst>
            </p:cNvPr>
            <p:cNvSpPr txBox="1"/>
            <p:nvPr/>
          </p:nvSpPr>
          <p:spPr>
            <a:xfrm>
              <a:off x="745413" y="46724"/>
              <a:ext cx="74627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VERDE</a:t>
              </a:r>
            </a:p>
          </p:txBody>
        </p:sp>
      </p:grpSp>
      <p:grpSp>
        <p:nvGrpSpPr>
          <p:cNvPr id="119" name="Group 44">
            <a:extLst>
              <a:ext uri="{FF2B5EF4-FFF2-40B4-BE49-F238E27FC236}">
                <a16:creationId xmlns:a16="http://schemas.microsoft.com/office/drawing/2014/main" id="{3890106F-11EE-1598-7387-88B1E9B67975}"/>
              </a:ext>
            </a:extLst>
          </p:cNvPr>
          <p:cNvGrpSpPr/>
          <p:nvPr/>
        </p:nvGrpSpPr>
        <p:grpSpPr>
          <a:xfrm>
            <a:off x="16652952" y="15712423"/>
            <a:ext cx="1677976" cy="234687"/>
            <a:chOff x="0" y="0"/>
            <a:chExt cx="2237301" cy="312916"/>
          </a:xfrm>
        </p:grpSpPr>
        <p:grpSp>
          <p:nvGrpSpPr>
            <p:cNvPr id="120" name="Group 45">
              <a:extLst>
                <a:ext uri="{FF2B5EF4-FFF2-40B4-BE49-F238E27FC236}">
                  <a16:creationId xmlns:a16="http://schemas.microsoft.com/office/drawing/2014/main" id="{DB5FBF4E-6545-AE1F-6C8F-85FB2AB4E825}"/>
                </a:ext>
              </a:extLst>
            </p:cNvPr>
            <p:cNvGrpSpPr/>
            <p:nvPr/>
          </p:nvGrpSpPr>
          <p:grpSpPr>
            <a:xfrm>
              <a:off x="0" y="0"/>
              <a:ext cx="2237301" cy="312916"/>
              <a:chOff x="0" y="0"/>
              <a:chExt cx="463468" cy="64822"/>
            </a:xfrm>
          </p:grpSpPr>
          <p:sp>
            <p:nvSpPr>
              <p:cNvPr id="122" name="Freeform 46">
                <a:extLst>
                  <a:ext uri="{FF2B5EF4-FFF2-40B4-BE49-F238E27FC236}">
                    <a16:creationId xmlns:a16="http://schemas.microsoft.com/office/drawing/2014/main" id="{4206E91E-8A13-3C49-3DA8-83126BB5E77A}"/>
                  </a:ext>
                </a:extLst>
              </p:cNvPr>
              <p:cNvSpPr/>
              <p:nvPr/>
            </p:nvSpPr>
            <p:spPr>
              <a:xfrm>
                <a:off x="0" y="0"/>
                <a:ext cx="463468" cy="64822"/>
              </a:xfrm>
              <a:custGeom>
                <a:avLst/>
                <a:gdLst/>
                <a:ahLst/>
                <a:cxnLst/>
                <a:rect l="l" t="t" r="r" b="b"/>
                <a:pathLst>
                  <a:path w="463468" h="64822">
                    <a:moveTo>
                      <a:pt x="0" y="0"/>
                    </a:moveTo>
                    <a:lnTo>
                      <a:pt x="463468" y="0"/>
                    </a:lnTo>
                    <a:lnTo>
                      <a:pt x="463468" y="64822"/>
                    </a:lnTo>
                    <a:lnTo>
                      <a:pt x="0" y="64822"/>
                    </a:lnTo>
                    <a:close/>
                  </a:path>
                </a:pathLst>
              </a:custGeom>
              <a:solidFill>
                <a:srgbClr val="FFCC3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23" name="TextBox 47">
                <a:extLst>
                  <a:ext uri="{FF2B5EF4-FFF2-40B4-BE49-F238E27FC236}">
                    <a16:creationId xmlns:a16="http://schemas.microsoft.com/office/drawing/2014/main" id="{973D4D06-2B90-D150-1710-B80FABBA8D9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63468" cy="121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1" name="TextBox 48">
              <a:extLst>
                <a:ext uri="{FF2B5EF4-FFF2-40B4-BE49-F238E27FC236}">
                  <a16:creationId xmlns:a16="http://schemas.microsoft.com/office/drawing/2014/main" id="{832AD9B7-540C-6E93-9538-441F3D6CFCB5}"/>
                </a:ext>
              </a:extLst>
            </p:cNvPr>
            <p:cNvSpPr txBox="1"/>
            <p:nvPr/>
          </p:nvSpPr>
          <p:spPr>
            <a:xfrm>
              <a:off x="579226" y="51742"/>
              <a:ext cx="1078848" cy="21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02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71" b="0" i="0" u="none" strike="noStrike" kern="1200" cap="none" spc="26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dec Pro"/>
                  <a:ea typeface="Codec Pro"/>
                  <a:cs typeface="Codec Pro"/>
                  <a:sym typeface="Codec Pro"/>
                </a:rPr>
                <a:t>AMARELO</a:t>
              </a:r>
            </a:p>
          </p:txBody>
        </p:sp>
      </p:grpSp>
      <p:grpSp>
        <p:nvGrpSpPr>
          <p:cNvPr id="124" name="Group 49">
            <a:extLst>
              <a:ext uri="{FF2B5EF4-FFF2-40B4-BE49-F238E27FC236}">
                <a16:creationId xmlns:a16="http://schemas.microsoft.com/office/drawing/2014/main" id="{807C2781-96A3-7045-072F-486FADECB5D7}"/>
              </a:ext>
            </a:extLst>
          </p:cNvPr>
          <p:cNvGrpSpPr/>
          <p:nvPr/>
        </p:nvGrpSpPr>
        <p:grpSpPr>
          <a:xfrm>
            <a:off x="14768941" y="17296319"/>
            <a:ext cx="5063806" cy="987076"/>
            <a:chOff x="0" y="0"/>
            <a:chExt cx="1333627" cy="259969"/>
          </a:xfrm>
        </p:grpSpPr>
        <p:sp>
          <p:nvSpPr>
            <p:cNvPr id="125" name="Freeform 50">
              <a:extLst>
                <a:ext uri="{FF2B5EF4-FFF2-40B4-BE49-F238E27FC236}">
                  <a16:creationId xmlns:a16="http://schemas.microsoft.com/office/drawing/2014/main" id="{33D9F180-0678-B810-B2D1-10C0FAB01F35}"/>
                </a:ext>
              </a:extLst>
            </p:cNvPr>
            <p:cNvSpPr/>
            <p:nvPr/>
          </p:nvSpPr>
          <p:spPr>
            <a:xfrm>
              <a:off x="0" y="0"/>
              <a:ext cx="1333627" cy="259969"/>
            </a:xfrm>
            <a:custGeom>
              <a:avLst/>
              <a:gdLst/>
              <a:ahLst/>
              <a:cxnLst/>
              <a:rect l="l" t="t" r="r" b="b"/>
              <a:pathLst>
                <a:path w="1333627" h="259969">
                  <a:moveTo>
                    <a:pt x="1333627" y="12231"/>
                  </a:moveTo>
                  <a:lnTo>
                    <a:pt x="1333627" y="247738"/>
                  </a:lnTo>
                  <a:cubicBezTo>
                    <a:pt x="1333627" y="254493"/>
                    <a:pt x="1328151" y="259969"/>
                    <a:pt x="1321396" y="259969"/>
                  </a:cubicBezTo>
                  <a:lnTo>
                    <a:pt x="12231" y="259969"/>
                  </a:lnTo>
                  <a:cubicBezTo>
                    <a:pt x="5476" y="259969"/>
                    <a:pt x="0" y="254493"/>
                    <a:pt x="0" y="247738"/>
                  </a:cubicBezTo>
                  <a:lnTo>
                    <a:pt x="0" y="12231"/>
                  </a:lnTo>
                  <a:cubicBezTo>
                    <a:pt x="0" y="5476"/>
                    <a:pt x="5476" y="0"/>
                    <a:pt x="12231" y="0"/>
                  </a:cubicBezTo>
                  <a:lnTo>
                    <a:pt x="1321396" y="0"/>
                  </a:lnTo>
                  <a:cubicBezTo>
                    <a:pt x="1324640" y="0"/>
                    <a:pt x="1327751" y="1289"/>
                    <a:pt x="1330045" y="3582"/>
                  </a:cubicBezTo>
                  <a:cubicBezTo>
                    <a:pt x="1332338" y="5876"/>
                    <a:pt x="1333627" y="8987"/>
                    <a:pt x="1333627" y="12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BBA176">
                    <a:alpha val="100000"/>
                  </a:srgbClr>
                </a:gs>
                <a:gs pos="100000">
                  <a:srgbClr val="55483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6" name="TextBox 51">
              <a:extLst>
                <a:ext uri="{FF2B5EF4-FFF2-40B4-BE49-F238E27FC236}">
                  <a16:creationId xmlns:a16="http://schemas.microsoft.com/office/drawing/2014/main" id="{B38C355F-84CD-D8C6-1F43-1CCD3011EBF9}"/>
                </a:ext>
              </a:extLst>
            </p:cNvPr>
            <p:cNvSpPr txBox="1"/>
            <p:nvPr/>
          </p:nvSpPr>
          <p:spPr>
            <a:xfrm>
              <a:off x="0" y="-57150"/>
              <a:ext cx="1333627" cy="31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8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7" name="AutoShape 52">
            <a:extLst>
              <a:ext uri="{FF2B5EF4-FFF2-40B4-BE49-F238E27FC236}">
                <a16:creationId xmlns:a16="http://schemas.microsoft.com/office/drawing/2014/main" id="{1C9A768E-C473-E581-4176-2DDEE8A9A827}"/>
              </a:ext>
            </a:extLst>
          </p:cNvPr>
          <p:cNvSpPr/>
          <p:nvPr/>
        </p:nvSpPr>
        <p:spPr>
          <a:xfrm flipH="1">
            <a:off x="6065476" y="13852963"/>
            <a:ext cx="13767247" cy="0"/>
          </a:xfrm>
          <a:prstGeom prst="line">
            <a:avLst/>
          </a:prstGeom>
          <a:ln w="19050" cap="flat">
            <a:solidFill>
              <a:srgbClr val="BBA17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id="{AC0C8353-8B53-1938-BC4E-758F16BCEEB4}"/>
              </a:ext>
            </a:extLst>
          </p:cNvPr>
          <p:cNvSpPr/>
          <p:nvPr/>
        </p:nvSpPr>
        <p:spPr>
          <a:xfrm>
            <a:off x="14907925" y="17467769"/>
            <a:ext cx="603264" cy="593461"/>
          </a:xfrm>
          <a:custGeom>
            <a:avLst/>
            <a:gdLst/>
            <a:ahLst/>
            <a:cxnLst/>
            <a:rect l="l" t="t" r="r" b="b"/>
            <a:pathLst>
              <a:path w="603264" h="593461">
                <a:moveTo>
                  <a:pt x="0" y="0"/>
                </a:moveTo>
                <a:lnTo>
                  <a:pt x="603264" y="0"/>
                </a:lnTo>
                <a:lnTo>
                  <a:pt x="603264" y="593461"/>
                </a:lnTo>
                <a:lnTo>
                  <a:pt x="0" y="59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id="{2753DC0A-1ED4-A2D2-351E-48F9D2D953B7}"/>
              </a:ext>
            </a:extLst>
          </p:cNvPr>
          <p:cNvSpPr/>
          <p:nvPr/>
        </p:nvSpPr>
        <p:spPr>
          <a:xfrm>
            <a:off x="18427314" y="12619059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56">
            <a:extLst>
              <a:ext uri="{FF2B5EF4-FFF2-40B4-BE49-F238E27FC236}">
                <a16:creationId xmlns:a16="http://schemas.microsoft.com/office/drawing/2014/main" id="{5A1936EE-3271-3CEC-9B8B-8BDF3E58888B}"/>
              </a:ext>
            </a:extLst>
          </p:cNvPr>
          <p:cNvSpPr txBox="1"/>
          <p:nvPr/>
        </p:nvSpPr>
        <p:spPr>
          <a:xfrm>
            <a:off x="6269610" y="13061818"/>
            <a:ext cx="2749719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2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Revisão Tributária</a:t>
            </a:r>
          </a:p>
        </p:txBody>
      </p:sp>
      <p:sp>
        <p:nvSpPr>
          <p:cNvPr id="131" name="TextBox 57">
            <a:extLst>
              <a:ext uri="{FF2B5EF4-FFF2-40B4-BE49-F238E27FC236}">
                <a16:creationId xmlns:a16="http://schemas.microsoft.com/office/drawing/2014/main" id="{B3EBD300-3F8A-D7F4-699A-B0E112CBAC8A}"/>
              </a:ext>
            </a:extLst>
          </p:cNvPr>
          <p:cNvSpPr txBox="1"/>
          <p:nvPr/>
        </p:nvSpPr>
        <p:spPr>
          <a:xfrm>
            <a:off x="6218087" y="14382955"/>
            <a:ext cx="345885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24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Revisão Previdênciária</a:t>
            </a:r>
          </a:p>
        </p:txBody>
      </p:sp>
      <p:sp>
        <p:nvSpPr>
          <p:cNvPr id="132" name="TextBox 58">
            <a:extLst>
              <a:ext uri="{FF2B5EF4-FFF2-40B4-BE49-F238E27FC236}">
                <a16:creationId xmlns:a16="http://schemas.microsoft.com/office/drawing/2014/main" id="{292A7913-D3F6-52B2-3CB1-C32380101593}"/>
              </a:ext>
            </a:extLst>
          </p:cNvPr>
          <p:cNvSpPr txBox="1"/>
          <p:nvPr/>
        </p:nvSpPr>
        <p:spPr>
          <a:xfrm>
            <a:off x="6269610" y="16973646"/>
            <a:ext cx="1391247" cy="35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2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24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53725"/>
                  </a:srgbClr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Sub total</a:t>
            </a:r>
          </a:p>
        </p:txBody>
      </p:sp>
      <p:sp>
        <p:nvSpPr>
          <p:cNvPr id="133" name="TextBox 59">
            <a:extLst>
              <a:ext uri="{FF2B5EF4-FFF2-40B4-BE49-F238E27FC236}">
                <a16:creationId xmlns:a16="http://schemas.microsoft.com/office/drawing/2014/main" id="{3763719E-819F-3FA9-4054-2EE52B16BEAF}"/>
              </a:ext>
            </a:extLst>
          </p:cNvPr>
          <p:cNvSpPr txBox="1"/>
          <p:nvPr/>
        </p:nvSpPr>
        <p:spPr>
          <a:xfrm>
            <a:off x="10995053" y="12041522"/>
            <a:ext cx="2718170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42" b="1" i="0" u="none" strike="noStrike" kern="1200" cap="none" spc="0" normalizeH="0" baseline="0" noProof="0">
                <a:ln>
                  <a:noFill/>
                </a:ln>
                <a:solidFill>
                  <a:srgbClr val="BBA176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Pontos Administrativos</a:t>
            </a:r>
          </a:p>
        </p:txBody>
      </p:sp>
      <p:sp>
        <p:nvSpPr>
          <p:cNvPr id="134" name="TextBox 60">
            <a:extLst>
              <a:ext uri="{FF2B5EF4-FFF2-40B4-BE49-F238E27FC236}">
                <a16:creationId xmlns:a16="http://schemas.microsoft.com/office/drawing/2014/main" id="{09DE65E3-341D-E3E9-FA5D-F8D31FCF58BD}"/>
              </a:ext>
            </a:extLst>
          </p:cNvPr>
          <p:cNvSpPr txBox="1"/>
          <p:nvPr/>
        </p:nvSpPr>
        <p:spPr>
          <a:xfrm>
            <a:off x="11096217" y="12926687"/>
            <a:ext cx="261700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6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5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R$ 100 MIL</a:t>
            </a:r>
          </a:p>
        </p:txBody>
      </p:sp>
      <p:sp>
        <p:nvSpPr>
          <p:cNvPr id="135" name="TextBox 61">
            <a:extLst>
              <a:ext uri="{FF2B5EF4-FFF2-40B4-BE49-F238E27FC236}">
                <a16:creationId xmlns:a16="http://schemas.microsoft.com/office/drawing/2014/main" id="{ECA6004E-3C10-B0EF-ACB6-BBEE53BDDE92}"/>
              </a:ext>
            </a:extLst>
          </p:cNvPr>
          <p:cNvSpPr txBox="1"/>
          <p:nvPr/>
        </p:nvSpPr>
        <p:spPr>
          <a:xfrm>
            <a:off x="11096217" y="14314775"/>
            <a:ext cx="2405611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6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5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R$ 50 MIL</a:t>
            </a:r>
          </a:p>
        </p:txBody>
      </p:sp>
      <p:sp>
        <p:nvSpPr>
          <p:cNvPr id="136" name="TextBox 62">
            <a:extLst>
              <a:ext uri="{FF2B5EF4-FFF2-40B4-BE49-F238E27FC236}">
                <a16:creationId xmlns:a16="http://schemas.microsoft.com/office/drawing/2014/main" id="{2F9B7C87-BFC8-EB1B-8242-4EA7A9DF214F}"/>
              </a:ext>
            </a:extLst>
          </p:cNvPr>
          <p:cNvSpPr txBox="1"/>
          <p:nvPr/>
        </p:nvSpPr>
        <p:spPr>
          <a:xfrm>
            <a:off x="11096217" y="15717917"/>
            <a:ext cx="2729856" cy="56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6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56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R$ 200 MIL</a:t>
            </a:r>
          </a:p>
        </p:txBody>
      </p:sp>
      <p:sp>
        <p:nvSpPr>
          <p:cNvPr id="137" name="TextBox 63">
            <a:extLst>
              <a:ext uri="{FF2B5EF4-FFF2-40B4-BE49-F238E27FC236}">
                <a16:creationId xmlns:a16="http://schemas.microsoft.com/office/drawing/2014/main" id="{2FAB228A-94E0-8D4D-4924-78D5E358A770}"/>
              </a:ext>
            </a:extLst>
          </p:cNvPr>
          <p:cNvSpPr txBox="1"/>
          <p:nvPr/>
        </p:nvSpPr>
        <p:spPr>
          <a:xfrm>
            <a:off x="15569830" y="12041522"/>
            <a:ext cx="2362725" cy="276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42" b="1" i="0" u="none" strike="noStrike" kern="1200" cap="none" spc="0" normalizeH="0" baseline="0" noProof="0">
                <a:ln>
                  <a:noFill/>
                </a:ln>
                <a:solidFill>
                  <a:srgbClr val="BBA176"/>
                </a:solidFill>
                <a:effectLst/>
                <a:uLnTx/>
                <a:uFillTx/>
                <a:latin typeface="Codec Pro Bold"/>
                <a:ea typeface="Codec Pro Bold"/>
                <a:cs typeface="Codec Pro Bold"/>
                <a:sym typeface="Codec Pro Bold"/>
              </a:rPr>
              <a:t>Pontos Qualificados</a:t>
            </a:r>
          </a:p>
        </p:txBody>
      </p:sp>
      <p:sp>
        <p:nvSpPr>
          <p:cNvPr id="138" name="TextBox 64">
            <a:extLst>
              <a:ext uri="{FF2B5EF4-FFF2-40B4-BE49-F238E27FC236}">
                <a16:creationId xmlns:a16="http://schemas.microsoft.com/office/drawing/2014/main" id="{4F74DE53-7E45-D1FB-0C24-FA4B1671FABD}"/>
              </a:ext>
            </a:extLst>
          </p:cNvPr>
          <p:cNvSpPr txBox="1"/>
          <p:nvPr/>
        </p:nvSpPr>
        <p:spPr>
          <a:xfrm>
            <a:off x="14889202" y="12663502"/>
            <a:ext cx="11242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R$ 5.000,00</a:t>
            </a:r>
          </a:p>
        </p:txBody>
      </p:sp>
      <p:sp>
        <p:nvSpPr>
          <p:cNvPr id="139" name="TextBox 65">
            <a:extLst>
              <a:ext uri="{FF2B5EF4-FFF2-40B4-BE49-F238E27FC236}">
                <a16:creationId xmlns:a16="http://schemas.microsoft.com/office/drawing/2014/main" id="{371F000E-6268-3299-5E3E-04EE26E66604}"/>
              </a:ext>
            </a:extLst>
          </p:cNvPr>
          <p:cNvSpPr txBox="1"/>
          <p:nvPr/>
        </p:nvSpPr>
        <p:spPr>
          <a:xfrm>
            <a:off x="14889187" y="12942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0" name="TextBox 66">
            <a:extLst>
              <a:ext uri="{FF2B5EF4-FFF2-40B4-BE49-F238E27FC236}">
                <a16:creationId xmlns:a16="http://schemas.microsoft.com/office/drawing/2014/main" id="{F5756D7D-4DAF-EB91-0E4D-1F4444F181F9}"/>
              </a:ext>
            </a:extLst>
          </p:cNvPr>
          <p:cNvSpPr txBox="1"/>
          <p:nvPr/>
        </p:nvSpPr>
        <p:spPr>
          <a:xfrm>
            <a:off x="14889216" y="13217841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1" name="TextBox 67">
            <a:extLst>
              <a:ext uri="{FF2B5EF4-FFF2-40B4-BE49-F238E27FC236}">
                <a16:creationId xmlns:a16="http://schemas.microsoft.com/office/drawing/2014/main" id="{ADDEC467-9F37-6D61-F5D8-829AA70AB740}"/>
              </a:ext>
            </a:extLst>
          </p:cNvPr>
          <p:cNvSpPr txBox="1"/>
          <p:nvPr/>
        </p:nvSpPr>
        <p:spPr>
          <a:xfrm>
            <a:off x="14889120" y="13496765"/>
            <a:ext cx="1373499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Ultra-Bold"/>
                <a:ea typeface="Codec Pro Ultra-Bold"/>
                <a:cs typeface="Codec Pro Ultra-Bold"/>
                <a:sym typeface="Codec Pro Ultra-Bold"/>
              </a:rPr>
              <a:t>R$ 805.000,00</a:t>
            </a:r>
          </a:p>
        </p:txBody>
      </p:sp>
      <p:sp>
        <p:nvSpPr>
          <p:cNvPr id="142" name="TextBox 68">
            <a:extLst>
              <a:ext uri="{FF2B5EF4-FFF2-40B4-BE49-F238E27FC236}">
                <a16:creationId xmlns:a16="http://schemas.microsoft.com/office/drawing/2014/main" id="{867BB3D5-9DDC-164B-7AB9-627415452705}"/>
              </a:ext>
            </a:extLst>
          </p:cNvPr>
          <p:cNvSpPr txBox="1"/>
          <p:nvPr/>
        </p:nvSpPr>
        <p:spPr>
          <a:xfrm>
            <a:off x="14910666" y="14077088"/>
            <a:ext cx="120104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R$ 10.000,00</a:t>
            </a:r>
          </a:p>
        </p:txBody>
      </p:sp>
      <p:sp>
        <p:nvSpPr>
          <p:cNvPr id="143" name="TextBox 69">
            <a:extLst>
              <a:ext uri="{FF2B5EF4-FFF2-40B4-BE49-F238E27FC236}">
                <a16:creationId xmlns:a16="http://schemas.microsoft.com/office/drawing/2014/main" id="{837BE1E4-5E94-5A96-B92A-96B90DE003D6}"/>
              </a:ext>
            </a:extLst>
          </p:cNvPr>
          <p:cNvSpPr txBox="1"/>
          <p:nvPr/>
        </p:nvSpPr>
        <p:spPr>
          <a:xfrm>
            <a:off x="14910651" y="14356013"/>
            <a:ext cx="137418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R$ 500.000,00</a:t>
            </a:r>
          </a:p>
        </p:txBody>
      </p:sp>
      <p:sp>
        <p:nvSpPr>
          <p:cNvPr id="144" name="TextBox 70">
            <a:extLst>
              <a:ext uri="{FF2B5EF4-FFF2-40B4-BE49-F238E27FC236}">
                <a16:creationId xmlns:a16="http://schemas.microsoft.com/office/drawing/2014/main" id="{F245F05D-3530-03CE-6BC9-617BFD083A7F}"/>
              </a:ext>
            </a:extLst>
          </p:cNvPr>
          <p:cNvSpPr txBox="1"/>
          <p:nvPr/>
        </p:nvSpPr>
        <p:spPr>
          <a:xfrm>
            <a:off x="14910680" y="14631427"/>
            <a:ext cx="136725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R$ 300.000,00</a:t>
            </a:r>
          </a:p>
        </p:txBody>
      </p:sp>
      <p:sp>
        <p:nvSpPr>
          <p:cNvPr id="145" name="TextBox 71">
            <a:extLst>
              <a:ext uri="{FF2B5EF4-FFF2-40B4-BE49-F238E27FC236}">
                <a16:creationId xmlns:a16="http://schemas.microsoft.com/office/drawing/2014/main" id="{1FB53ED8-9871-6A6A-E1CC-7AFF10F784A3}"/>
              </a:ext>
            </a:extLst>
          </p:cNvPr>
          <p:cNvSpPr txBox="1"/>
          <p:nvPr/>
        </p:nvSpPr>
        <p:spPr>
          <a:xfrm>
            <a:off x="14910584" y="14910351"/>
            <a:ext cx="1329336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Ultra-Bold"/>
                <a:ea typeface="Codec Pro Ultra-Bold"/>
                <a:cs typeface="Codec Pro Ultra-Bold"/>
                <a:sym typeface="Codec Pro Ultra-Bold"/>
              </a:rPr>
              <a:t>R$ 810.000,00</a:t>
            </a:r>
          </a:p>
        </p:txBody>
      </p:sp>
      <p:sp>
        <p:nvSpPr>
          <p:cNvPr id="146" name="TextBox 72">
            <a:extLst>
              <a:ext uri="{FF2B5EF4-FFF2-40B4-BE49-F238E27FC236}">
                <a16:creationId xmlns:a16="http://schemas.microsoft.com/office/drawing/2014/main" id="{F193B463-77AE-52DD-6902-BA0497F72E36}"/>
              </a:ext>
            </a:extLst>
          </p:cNvPr>
          <p:cNvSpPr txBox="1"/>
          <p:nvPr/>
        </p:nvSpPr>
        <p:spPr>
          <a:xfrm>
            <a:off x="14932130" y="15460026"/>
            <a:ext cx="1542661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R$ 2.000.000,00</a:t>
            </a:r>
          </a:p>
        </p:txBody>
      </p:sp>
      <p:sp>
        <p:nvSpPr>
          <p:cNvPr id="147" name="TextBox 73">
            <a:extLst>
              <a:ext uri="{FF2B5EF4-FFF2-40B4-BE49-F238E27FC236}">
                <a16:creationId xmlns:a16="http://schemas.microsoft.com/office/drawing/2014/main" id="{D7CC139E-4318-280B-BE3E-8766A0E59924}"/>
              </a:ext>
            </a:extLst>
          </p:cNvPr>
          <p:cNvSpPr txBox="1"/>
          <p:nvPr/>
        </p:nvSpPr>
        <p:spPr>
          <a:xfrm>
            <a:off x="15624801" y="15741098"/>
            <a:ext cx="8503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id="148" name="TextBox 74">
            <a:extLst>
              <a:ext uri="{FF2B5EF4-FFF2-40B4-BE49-F238E27FC236}">
                <a16:creationId xmlns:a16="http://schemas.microsoft.com/office/drawing/2014/main" id="{7005853E-83DA-4730-1112-E4B3EB6C3C4B}"/>
              </a:ext>
            </a:extLst>
          </p:cNvPr>
          <p:cNvSpPr txBox="1"/>
          <p:nvPr/>
        </p:nvSpPr>
        <p:spPr>
          <a:xfrm>
            <a:off x="14932145" y="16014365"/>
            <a:ext cx="1464665" cy="21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"/>
                <a:ea typeface="Codec Pro"/>
                <a:cs typeface="Codec Pro"/>
                <a:sym typeface="Codec Pro"/>
              </a:rPr>
              <a:t>R$ 2.810.000,00</a:t>
            </a:r>
          </a:p>
        </p:txBody>
      </p:sp>
      <p:sp>
        <p:nvSpPr>
          <p:cNvPr id="149" name="TextBox 75">
            <a:extLst>
              <a:ext uri="{FF2B5EF4-FFF2-40B4-BE49-F238E27FC236}">
                <a16:creationId xmlns:a16="http://schemas.microsoft.com/office/drawing/2014/main" id="{608157F3-53A4-2D4A-164F-1D5B7C87ACE8}"/>
              </a:ext>
            </a:extLst>
          </p:cNvPr>
          <p:cNvSpPr txBox="1"/>
          <p:nvPr/>
        </p:nvSpPr>
        <p:spPr>
          <a:xfrm>
            <a:off x="14910680" y="16819091"/>
            <a:ext cx="1916178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Ultra-Bold"/>
                <a:ea typeface="Codec Pro Ultra-Bold"/>
                <a:cs typeface="Codec Pro Ultra-Bold"/>
                <a:sym typeface="Codec Pro Ultra-Bold"/>
              </a:rPr>
              <a:t>R$ 4.425.000,00</a:t>
            </a:r>
          </a:p>
        </p:txBody>
      </p:sp>
      <p:sp>
        <p:nvSpPr>
          <p:cNvPr id="150" name="TextBox 76">
            <a:extLst>
              <a:ext uri="{FF2B5EF4-FFF2-40B4-BE49-F238E27FC236}">
                <a16:creationId xmlns:a16="http://schemas.microsoft.com/office/drawing/2014/main" id="{C80D0A69-4A9D-721E-56C4-85CF937F7DBB}"/>
              </a:ext>
            </a:extLst>
          </p:cNvPr>
          <p:cNvSpPr txBox="1"/>
          <p:nvPr/>
        </p:nvSpPr>
        <p:spPr>
          <a:xfrm>
            <a:off x="11027866" y="16885004"/>
            <a:ext cx="1710006" cy="26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Ultra-Bold"/>
                <a:ea typeface="Codec Pro Ultra-Bold"/>
                <a:cs typeface="Codec Pro Ultra-Bold"/>
                <a:sym typeface="Codec Pro Ultra-Bold"/>
              </a:rPr>
              <a:t>R$ 350.000,00</a:t>
            </a:r>
          </a:p>
        </p:txBody>
      </p:sp>
      <p:sp>
        <p:nvSpPr>
          <p:cNvPr id="151" name="TextBox 77">
            <a:extLst>
              <a:ext uri="{FF2B5EF4-FFF2-40B4-BE49-F238E27FC236}">
                <a16:creationId xmlns:a16="http://schemas.microsoft.com/office/drawing/2014/main" id="{0497D22D-CBF8-36D3-1BE0-CF111B7D96AB}"/>
              </a:ext>
            </a:extLst>
          </p:cNvPr>
          <p:cNvSpPr txBox="1"/>
          <p:nvPr/>
        </p:nvSpPr>
        <p:spPr>
          <a:xfrm>
            <a:off x="15660726" y="17610644"/>
            <a:ext cx="3909669" cy="549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1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dec Pro Ultra-Bold"/>
                <a:ea typeface="Codec Pro Ultra-Bold"/>
                <a:cs typeface="Codec Pro Ultra-Bold"/>
                <a:sym typeface="Codec Pro Ultra-Bold"/>
              </a:rPr>
              <a:t>R$ 4.775.000,00</a:t>
            </a:r>
          </a:p>
        </p:txBody>
      </p:sp>
      <p:sp>
        <p:nvSpPr>
          <p:cNvPr id="152" name="Freeform 78">
            <a:extLst>
              <a:ext uri="{FF2B5EF4-FFF2-40B4-BE49-F238E27FC236}">
                <a16:creationId xmlns:a16="http://schemas.microsoft.com/office/drawing/2014/main" id="{44F609B0-01C1-646D-747C-415B5CB24560}"/>
              </a:ext>
            </a:extLst>
          </p:cNvPr>
          <p:cNvSpPr/>
          <p:nvPr/>
        </p:nvSpPr>
        <p:spPr>
          <a:xfrm>
            <a:off x="18427314" y="1293055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3" name="Freeform 79">
            <a:extLst>
              <a:ext uri="{FF2B5EF4-FFF2-40B4-BE49-F238E27FC236}">
                <a16:creationId xmlns:a16="http://schemas.microsoft.com/office/drawing/2014/main" id="{ECD0F34F-C2DF-DD6F-EFCE-2DDDC863CE80}"/>
              </a:ext>
            </a:extLst>
          </p:cNvPr>
          <p:cNvSpPr/>
          <p:nvPr/>
        </p:nvSpPr>
        <p:spPr>
          <a:xfrm>
            <a:off x="18427314" y="1322500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4" name="Freeform 80">
            <a:extLst>
              <a:ext uri="{FF2B5EF4-FFF2-40B4-BE49-F238E27FC236}">
                <a16:creationId xmlns:a16="http://schemas.microsoft.com/office/drawing/2014/main" id="{58A48EAC-C4D5-358B-A828-3C0F08F3C28C}"/>
              </a:ext>
            </a:extLst>
          </p:cNvPr>
          <p:cNvSpPr/>
          <p:nvPr/>
        </p:nvSpPr>
        <p:spPr>
          <a:xfrm>
            <a:off x="18427314" y="14058038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81">
            <a:extLst>
              <a:ext uri="{FF2B5EF4-FFF2-40B4-BE49-F238E27FC236}">
                <a16:creationId xmlns:a16="http://schemas.microsoft.com/office/drawing/2014/main" id="{E63C41A4-FACA-6EE1-1173-0B5A19A6BAAD}"/>
              </a:ext>
            </a:extLst>
          </p:cNvPr>
          <p:cNvSpPr/>
          <p:nvPr/>
        </p:nvSpPr>
        <p:spPr>
          <a:xfrm>
            <a:off x="18427314" y="1436953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82">
            <a:extLst>
              <a:ext uri="{FF2B5EF4-FFF2-40B4-BE49-F238E27FC236}">
                <a16:creationId xmlns:a16="http://schemas.microsoft.com/office/drawing/2014/main" id="{46FEB640-F72D-120E-3C2B-3E537615547B}"/>
              </a:ext>
            </a:extLst>
          </p:cNvPr>
          <p:cNvSpPr/>
          <p:nvPr/>
        </p:nvSpPr>
        <p:spPr>
          <a:xfrm>
            <a:off x="18427314" y="14663987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83">
            <a:extLst>
              <a:ext uri="{FF2B5EF4-FFF2-40B4-BE49-F238E27FC236}">
                <a16:creationId xmlns:a16="http://schemas.microsoft.com/office/drawing/2014/main" id="{7F2C80F8-2534-448B-5CE7-6B28681D2426}"/>
              </a:ext>
            </a:extLst>
          </p:cNvPr>
          <p:cNvSpPr/>
          <p:nvPr/>
        </p:nvSpPr>
        <p:spPr>
          <a:xfrm>
            <a:off x="18427314" y="15426401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60"/>
                </a:lnTo>
                <a:lnTo>
                  <a:pt x="0" y="235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8" name="Freeform 84">
            <a:extLst>
              <a:ext uri="{FF2B5EF4-FFF2-40B4-BE49-F238E27FC236}">
                <a16:creationId xmlns:a16="http://schemas.microsoft.com/office/drawing/2014/main" id="{659E37C5-D89B-8456-E1C3-F1FB242B9256}"/>
              </a:ext>
            </a:extLst>
          </p:cNvPr>
          <p:cNvSpPr/>
          <p:nvPr/>
        </p:nvSpPr>
        <p:spPr>
          <a:xfrm>
            <a:off x="18427314" y="15737900"/>
            <a:ext cx="260397" cy="235659"/>
          </a:xfrm>
          <a:custGeom>
            <a:avLst/>
            <a:gdLst/>
            <a:ahLst/>
            <a:cxnLst/>
            <a:rect l="l" t="t" r="r" b="b"/>
            <a:pathLst>
              <a:path w="260397" h="235659">
                <a:moveTo>
                  <a:pt x="0" y="0"/>
                </a:moveTo>
                <a:lnTo>
                  <a:pt x="260398" y="0"/>
                </a:lnTo>
                <a:lnTo>
                  <a:pt x="260398" y="235659"/>
                </a:lnTo>
                <a:lnTo>
                  <a:pt x="0" y="23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FintaxLC2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874" y="4383402"/>
            <a:ext cx="15950401" cy="153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67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B9B9B">
                <a:alpha val="145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968052"/>
            <a:ext cx="9525" cy="29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00138" y="3162300"/>
            <a:ext cx="16078200" cy="4706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21"/>
              </a:lnSpc>
            </a:pP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retificação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das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declarações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transmissão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para as bases da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Receita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Federal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são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responsabilidade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da Studio Fiscal, com base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na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decisão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gerencial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empresa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sobre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o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aproveitamento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dos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valores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apresentados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2921"/>
              </a:lnSpc>
            </a:pP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2921"/>
              </a:lnSpc>
            </a:pPr>
            <a:r>
              <a:rPr lang="en-US" sz="2632" b="1" spc="-76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Obrigatório</a:t>
            </a:r>
            <a:r>
              <a:rPr lang="en-US" sz="2632" b="1" spc="-76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632" b="1" spc="-76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disponibilizar</a:t>
            </a:r>
            <a:r>
              <a:rPr lang="en-US" sz="2632" b="1" spc="-76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</a:t>
            </a:r>
          </a:p>
          <a:p>
            <a:pPr marL="568250" lvl="1" indent="-284125" algn="just">
              <a:lnSpc>
                <a:spcPts val="2921"/>
              </a:lnSpc>
              <a:buFont typeface="Arial"/>
              <a:buChar char="•"/>
            </a:pP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Procuração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Eletrônica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ou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Certificado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Al</a:t>
            </a:r>
          </a:p>
          <a:p>
            <a:pPr marL="568250" lvl="1" indent="-284125" algn="just">
              <a:lnSpc>
                <a:spcPts val="2921"/>
              </a:lnSpc>
              <a:buFont typeface="Arial"/>
              <a:buChar char="•"/>
            </a:pP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Dados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bancários</a:t>
            </a: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568250" lvl="1" indent="-284125" algn="just">
              <a:lnSpc>
                <a:spcPts val="2921"/>
              </a:lnSpc>
              <a:buFont typeface="Arial"/>
              <a:buChar char="•"/>
            </a:pP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Documentos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complementares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(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caso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manifestado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pela equipe)</a:t>
            </a:r>
          </a:p>
          <a:p>
            <a:pPr algn="just">
              <a:lnSpc>
                <a:spcPts val="2921"/>
              </a:lnSpc>
            </a:pP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2921"/>
              </a:lnSpc>
            </a:pP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retificação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terá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início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somente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após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a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disponibilização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todas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as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informações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citadas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632" spc="-76" dirty="0" err="1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acima</a:t>
            </a:r>
            <a:r>
              <a:rPr lang="en-US" sz="2632" spc="-76" dirty="0">
                <a:solidFill>
                  <a:srgbClr val="322E2B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2921"/>
              </a:lnSpc>
            </a:pPr>
            <a:endParaRPr lang="en-US" sz="2632" spc="-76" dirty="0">
              <a:solidFill>
                <a:srgbClr val="322E2B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2402"/>
              </a:lnSpc>
            </a:pP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OBS: Como forma de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segurança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a Studio Fiscal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solicita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dados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bancários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para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registro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pedidos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de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restituição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independente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da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compensação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restituição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dos </a:t>
            </a:r>
            <a:r>
              <a:rPr lang="en-US" sz="2164" b="1" spc="-62" dirty="0" err="1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créditos</a:t>
            </a:r>
            <a:r>
              <a:rPr lang="en-US" sz="2164" b="1" spc="-62" dirty="0">
                <a:solidFill>
                  <a:srgbClr val="322E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16958" y="1212214"/>
            <a:ext cx="5054084" cy="960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8"/>
              </a:lnSpc>
              <a:spcBef>
                <a:spcPct val="0"/>
              </a:spcBef>
            </a:pPr>
            <a:r>
              <a:rPr lang="en-US" sz="5720" b="1" dirty="0">
                <a:solidFill>
                  <a:srgbClr val="796B5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RETIFICAÇÃO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0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05720" y="-7009048"/>
            <a:ext cx="15137418" cy="15137418"/>
          </a:xfrm>
          <a:custGeom>
            <a:avLst/>
            <a:gdLst/>
            <a:ahLst/>
            <a:cxnLst/>
            <a:rect l="l" t="t" r="r" b="b"/>
            <a:pathLst>
              <a:path w="15137418" h="15137418">
                <a:moveTo>
                  <a:pt x="0" y="0"/>
                </a:moveTo>
                <a:lnTo>
                  <a:pt x="15137418" y="0"/>
                </a:lnTo>
                <a:lnTo>
                  <a:pt x="15137418" y="15137418"/>
                </a:lnTo>
                <a:lnTo>
                  <a:pt x="0" y="15137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978741" y="2018540"/>
            <a:ext cx="14479521" cy="14479521"/>
          </a:xfrm>
          <a:custGeom>
            <a:avLst/>
            <a:gdLst/>
            <a:ahLst/>
            <a:cxnLst/>
            <a:rect l="l" t="t" r="r" b="b"/>
            <a:pathLst>
              <a:path w="14479521" h="14479521">
                <a:moveTo>
                  <a:pt x="0" y="0"/>
                </a:moveTo>
                <a:lnTo>
                  <a:pt x="14479520" y="0"/>
                </a:lnTo>
                <a:lnTo>
                  <a:pt x="14479520" y="14479520"/>
                </a:lnTo>
                <a:lnTo>
                  <a:pt x="0" y="144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13452" y="4467798"/>
            <a:ext cx="6661095" cy="139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7"/>
              </a:lnSpc>
            </a:pPr>
            <a:r>
              <a:rPr lang="en-US" sz="9542" spc="-53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OBRIGADO!</a:t>
            </a:r>
          </a:p>
        </p:txBody>
      </p:sp>
      <p:sp>
        <p:nvSpPr>
          <p:cNvPr id="5" name="Freeform 5"/>
          <p:cNvSpPr/>
          <p:nvPr/>
        </p:nvSpPr>
        <p:spPr>
          <a:xfrm>
            <a:off x="7362170" y="8509593"/>
            <a:ext cx="3563659" cy="485549"/>
          </a:xfrm>
          <a:custGeom>
            <a:avLst/>
            <a:gdLst/>
            <a:ahLst/>
            <a:cxnLst/>
            <a:rect l="l" t="t" r="r" b="b"/>
            <a:pathLst>
              <a:path w="3563659" h="485549">
                <a:moveTo>
                  <a:pt x="0" y="0"/>
                </a:moveTo>
                <a:lnTo>
                  <a:pt x="3563660" y="0"/>
                </a:lnTo>
                <a:lnTo>
                  <a:pt x="3563660" y="485549"/>
                </a:lnTo>
                <a:lnTo>
                  <a:pt x="0" y="485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1233</Words>
  <Application>Microsoft Office PowerPoint</Application>
  <PresentationFormat>Personalizar</PresentationFormat>
  <Paragraphs>332</Paragraphs>
  <Slides>24</Slides>
  <Notes>2</Notes>
  <HiddenSlides>2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Codec Pro</vt:lpstr>
      <vt:lpstr>Poppins Bold</vt:lpstr>
      <vt:lpstr>Poppins</vt:lpstr>
      <vt:lpstr>Codec Pro Bold</vt:lpstr>
      <vt:lpstr>Codec Pro Ultra-Bold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GERAL - Pontos Administrativos Studio Fiscal</dc:title>
  <dc:creator>Alessandra Fagundes Bede</dc:creator>
  <cp:lastModifiedBy>Michel Silveira Ribeiro</cp:lastModifiedBy>
  <cp:revision>101</cp:revision>
  <dcterms:created xsi:type="dcterms:W3CDTF">2006-08-16T00:00:00Z</dcterms:created>
  <dcterms:modified xsi:type="dcterms:W3CDTF">2026-07-17T14:00:41Z</dcterms:modified>
  <dc:identifier>DAGsBaE8M-k</dc:identifier>
</cp:coreProperties>
</file>